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38"/>
  </p:notesMasterIdLst>
  <p:sldIdLst>
    <p:sldId id="256" r:id="rId2"/>
    <p:sldId id="258" r:id="rId3"/>
    <p:sldId id="259" r:id="rId4"/>
    <p:sldId id="260" r:id="rId5"/>
    <p:sldId id="261" r:id="rId6"/>
    <p:sldId id="262" r:id="rId7"/>
    <p:sldId id="263" r:id="rId8"/>
    <p:sldId id="264" r:id="rId9"/>
    <p:sldId id="265" r:id="rId10"/>
    <p:sldId id="269" r:id="rId11"/>
    <p:sldId id="283" r:id="rId12"/>
    <p:sldId id="284" r:id="rId13"/>
    <p:sldId id="285" r:id="rId14"/>
    <p:sldId id="286" r:id="rId15"/>
    <p:sldId id="287" r:id="rId16"/>
    <p:sldId id="288" r:id="rId17"/>
    <p:sldId id="289" r:id="rId18"/>
    <p:sldId id="290" r:id="rId19"/>
    <p:sldId id="291" r:id="rId20"/>
    <p:sldId id="292" r:id="rId21"/>
    <p:sldId id="293" r:id="rId22"/>
    <p:sldId id="270" r:id="rId23"/>
    <p:sldId id="267" r:id="rId24"/>
    <p:sldId id="268" r:id="rId25"/>
    <p:sldId id="271" r:id="rId26"/>
    <p:sldId id="272" r:id="rId27"/>
    <p:sldId id="273" r:id="rId28"/>
    <p:sldId id="274" r:id="rId29"/>
    <p:sldId id="275" r:id="rId30"/>
    <p:sldId id="276" r:id="rId31"/>
    <p:sldId id="277" r:id="rId32"/>
    <p:sldId id="278" r:id="rId33"/>
    <p:sldId id="279" r:id="rId34"/>
    <p:sldId id="280" r:id="rId35"/>
    <p:sldId id="281" r:id="rId36"/>
    <p:sldId id="282"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9" d="100"/>
          <a:sy n="69" d="100"/>
        </p:scale>
        <p:origin x="75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0CFBC0-88A6-4087-B538-DEA3F8ECE785}" type="datetimeFigureOut">
              <a:rPr lang="en-IN" smtClean="0"/>
              <a:t>06-07-2022</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84C4C36-64B4-41C7-AB40-F401D6D9C19E}" type="slidenum">
              <a:rPr lang="en-IN" smtClean="0"/>
              <a:t>‹#›</a:t>
            </a:fld>
            <a:endParaRPr lang="en-IN"/>
          </a:p>
        </p:txBody>
      </p:sp>
    </p:spTree>
    <p:extLst>
      <p:ext uri="{BB962C8B-B14F-4D97-AF65-F5344CB8AC3E}">
        <p14:creationId xmlns:p14="http://schemas.microsoft.com/office/powerpoint/2010/main" val="16324549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D84C4C36-64B4-41C7-AB40-F401D6D9C19E}" type="slidenum">
              <a:rPr lang="en-IN" smtClean="0"/>
              <a:t>36</a:t>
            </a:fld>
            <a:endParaRPr lang="en-IN"/>
          </a:p>
        </p:txBody>
      </p:sp>
    </p:spTree>
    <p:extLst>
      <p:ext uri="{BB962C8B-B14F-4D97-AF65-F5344CB8AC3E}">
        <p14:creationId xmlns:p14="http://schemas.microsoft.com/office/powerpoint/2010/main" val="1059440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13B1363B-B2D1-4AD5-A5CC-41132C8B1F19}" type="datetimeFigureOut">
              <a:rPr lang="en-IN" smtClean="0"/>
              <a:t>06-07-2022</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B0B99637-4841-4F84-AE45-1922FED3306A}" type="slidenum">
              <a:rPr lang="en-IN" smtClean="0"/>
              <a:t>‹#›</a:t>
            </a:fld>
            <a:endParaRPr lang="en-IN"/>
          </a:p>
        </p:txBody>
      </p:sp>
    </p:spTree>
    <p:extLst>
      <p:ext uri="{BB962C8B-B14F-4D97-AF65-F5344CB8AC3E}">
        <p14:creationId xmlns:p14="http://schemas.microsoft.com/office/powerpoint/2010/main" val="25063687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3B1363B-B2D1-4AD5-A5CC-41132C8B1F19}" type="datetimeFigureOut">
              <a:rPr lang="en-IN" smtClean="0"/>
              <a:t>06-07-2022</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0B99637-4841-4F84-AE45-1922FED3306A}" type="slidenum">
              <a:rPr lang="en-IN" smtClean="0"/>
              <a:t>‹#›</a:t>
            </a:fld>
            <a:endParaRPr lang="en-IN"/>
          </a:p>
        </p:txBody>
      </p:sp>
    </p:spTree>
    <p:extLst>
      <p:ext uri="{BB962C8B-B14F-4D97-AF65-F5344CB8AC3E}">
        <p14:creationId xmlns:p14="http://schemas.microsoft.com/office/powerpoint/2010/main" val="13158311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3B1363B-B2D1-4AD5-A5CC-41132C8B1F19}" type="datetimeFigureOut">
              <a:rPr lang="en-IN" smtClean="0"/>
              <a:t>06-07-2022</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0B99637-4841-4F84-AE45-1922FED3306A}" type="slidenum">
              <a:rPr lang="en-IN" smtClean="0"/>
              <a:t>‹#›</a:t>
            </a:fld>
            <a:endParaRPr lang="en-IN"/>
          </a:p>
        </p:txBody>
      </p:sp>
    </p:spTree>
    <p:extLst>
      <p:ext uri="{BB962C8B-B14F-4D97-AF65-F5344CB8AC3E}">
        <p14:creationId xmlns:p14="http://schemas.microsoft.com/office/powerpoint/2010/main" val="16568263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3B1363B-B2D1-4AD5-A5CC-41132C8B1F19}" type="datetimeFigureOut">
              <a:rPr lang="en-IN" smtClean="0"/>
              <a:t>06-07-2022</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B0B99637-4841-4F84-AE45-1922FED3306A}" type="slidenum">
              <a:rPr lang="en-IN" smtClean="0"/>
              <a:t>‹#›</a:t>
            </a:fld>
            <a:endParaRPr lang="en-IN"/>
          </a:p>
        </p:txBody>
      </p:sp>
    </p:spTree>
    <p:extLst>
      <p:ext uri="{BB962C8B-B14F-4D97-AF65-F5344CB8AC3E}">
        <p14:creationId xmlns:p14="http://schemas.microsoft.com/office/powerpoint/2010/main" val="25510687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3B1363B-B2D1-4AD5-A5CC-41132C8B1F19}" type="datetimeFigureOut">
              <a:rPr lang="en-IN" smtClean="0"/>
              <a:t>06-07-2022</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B0B99637-4841-4F84-AE45-1922FED3306A}" type="slidenum">
              <a:rPr lang="en-IN" smtClean="0"/>
              <a:t>‹#›</a:t>
            </a:fld>
            <a:endParaRPr lang="en-IN"/>
          </a:p>
        </p:txBody>
      </p:sp>
    </p:spTree>
    <p:extLst>
      <p:ext uri="{BB962C8B-B14F-4D97-AF65-F5344CB8AC3E}">
        <p14:creationId xmlns:p14="http://schemas.microsoft.com/office/powerpoint/2010/main" val="21799792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13B1363B-B2D1-4AD5-A5CC-41132C8B1F19}" type="datetimeFigureOut">
              <a:rPr lang="en-IN" smtClean="0"/>
              <a:t>06-07-2022</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B0B99637-4841-4F84-AE45-1922FED3306A}" type="slidenum">
              <a:rPr lang="en-IN" smtClean="0"/>
              <a:t>‹#›</a:t>
            </a:fld>
            <a:endParaRPr lang="en-IN"/>
          </a:p>
        </p:txBody>
      </p:sp>
    </p:spTree>
    <p:extLst>
      <p:ext uri="{BB962C8B-B14F-4D97-AF65-F5344CB8AC3E}">
        <p14:creationId xmlns:p14="http://schemas.microsoft.com/office/powerpoint/2010/main" val="6287242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3B1363B-B2D1-4AD5-A5CC-41132C8B1F19}" type="datetimeFigureOut">
              <a:rPr lang="en-IN" smtClean="0"/>
              <a:t>06-07-2022</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B0B99637-4841-4F84-AE45-1922FED3306A}" type="slidenum">
              <a:rPr lang="en-IN" smtClean="0"/>
              <a:t>‹#›</a:t>
            </a:fld>
            <a:endParaRPr lang="en-IN"/>
          </a:p>
        </p:txBody>
      </p:sp>
    </p:spTree>
    <p:extLst>
      <p:ext uri="{BB962C8B-B14F-4D97-AF65-F5344CB8AC3E}">
        <p14:creationId xmlns:p14="http://schemas.microsoft.com/office/powerpoint/2010/main" val="24210178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13B1363B-B2D1-4AD5-A5CC-41132C8B1F19}" type="datetimeFigureOut">
              <a:rPr lang="en-IN" smtClean="0"/>
              <a:t>06-07-2022</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B0B99637-4841-4F84-AE45-1922FED3306A}" type="slidenum">
              <a:rPr lang="en-IN" smtClean="0"/>
              <a:t>‹#›</a:t>
            </a:fld>
            <a:endParaRPr lang="en-IN"/>
          </a:p>
        </p:txBody>
      </p:sp>
    </p:spTree>
    <p:extLst>
      <p:ext uri="{BB962C8B-B14F-4D97-AF65-F5344CB8AC3E}">
        <p14:creationId xmlns:p14="http://schemas.microsoft.com/office/powerpoint/2010/main" val="41915681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13B1363B-B2D1-4AD5-A5CC-41132C8B1F19}" type="datetimeFigureOut">
              <a:rPr lang="en-IN" smtClean="0"/>
              <a:t>06-07-2022</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0B99637-4841-4F84-AE45-1922FED3306A}" type="slidenum">
              <a:rPr lang="en-IN" smtClean="0"/>
              <a:t>‹#›</a:t>
            </a:fld>
            <a:endParaRPr lang="en-IN"/>
          </a:p>
        </p:txBody>
      </p:sp>
    </p:spTree>
    <p:extLst>
      <p:ext uri="{BB962C8B-B14F-4D97-AF65-F5344CB8AC3E}">
        <p14:creationId xmlns:p14="http://schemas.microsoft.com/office/powerpoint/2010/main" val="3116349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3B1363B-B2D1-4AD5-A5CC-41132C8B1F19}" type="datetimeFigureOut">
              <a:rPr lang="en-IN" smtClean="0"/>
              <a:t>06-07-2022</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0B99637-4841-4F84-AE45-1922FED3306A}" type="slidenum">
              <a:rPr lang="en-IN" smtClean="0"/>
              <a:t>‹#›</a:t>
            </a:fld>
            <a:endParaRPr lang="en-IN"/>
          </a:p>
        </p:txBody>
      </p:sp>
    </p:spTree>
    <p:extLst>
      <p:ext uri="{BB962C8B-B14F-4D97-AF65-F5344CB8AC3E}">
        <p14:creationId xmlns:p14="http://schemas.microsoft.com/office/powerpoint/2010/main" val="32460675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3B1363B-B2D1-4AD5-A5CC-41132C8B1F19}" type="datetimeFigureOut">
              <a:rPr lang="en-IN" smtClean="0"/>
              <a:t>06-07-2022</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0B99637-4841-4F84-AE45-1922FED3306A}"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702484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13B1363B-B2D1-4AD5-A5CC-41132C8B1F19}" type="datetimeFigureOut">
              <a:rPr lang="en-IN" smtClean="0"/>
              <a:t>06-07-2022</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0B99637-4841-4F84-AE45-1922FED3306A}" type="slidenum">
              <a:rPr lang="en-IN" smtClean="0"/>
              <a:t>‹#›</a:t>
            </a:fld>
            <a:endParaRPr lang="en-IN"/>
          </a:p>
        </p:txBody>
      </p:sp>
    </p:spTree>
    <p:extLst>
      <p:ext uri="{BB962C8B-B14F-4D97-AF65-F5344CB8AC3E}">
        <p14:creationId xmlns:p14="http://schemas.microsoft.com/office/powerpoint/2010/main" val="1552874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13B1363B-B2D1-4AD5-A5CC-41132C8B1F19}" type="datetimeFigureOut">
              <a:rPr lang="en-IN" smtClean="0"/>
              <a:t>06-07-2022</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0B99637-4841-4F84-AE45-1922FED3306A}"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7240887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13B1363B-B2D1-4AD5-A5CC-41132C8B1F19}" type="datetimeFigureOut">
              <a:rPr lang="en-IN" smtClean="0"/>
              <a:t>06-07-2022</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0B99637-4841-4F84-AE45-1922FED3306A}" type="slidenum">
              <a:rPr lang="en-IN" smtClean="0"/>
              <a:t>‹#›</a:t>
            </a:fld>
            <a:endParaRPr lang="en-IN"/>
          </a:p>
        </p:txBody>
      </p:sp>
    </p:spTree>
    <p:extLst>
      <p:ext uri="{BB962C8B-B14F-4D97-AF65-F5344CB8AC3E}">
        <p14:creationId xmlns:p14="http://schemas.microsoft.com/office/powerpoint/2010/main" val="23327177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3B1363B-B2D1-4AD5-A5CC-41132C8B1F19}" type="datetimeFigureOut">
              <a:rPr lang="en-IN" smtClean="0"/>
              <a:t>06-07-2022</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0B99637-4841-4F84-AE45-1922FED3306A}" type="slidenum">
              <a:rPr lang="en-IN" smtClean="0"/>
              <a:t>‹#›</a:t>
            </a:fld>
            <a:endParaRPr lang="en-IN"/>
          </a:p>
        </p:txBody>
      </p:sp>
    </p:spTree>
    <p:extLst>
      <p:ext uri="{BB962C8B-B14F-4D97-AF65-F5344CB8AC3E}">
        <p14:creationId xmlns:p14="http://schemas.microsoft.com/office/powerpoint/2010/main" val="28694857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3B1363B-B2D1-4AD5-A5CC-41132C8B1F19}" type="datetimeFigureOut">
              <a:rPr lang="en-IN" smtClean="0"/>
              <a:t>06-07-2022</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0B99637-4841-4F84-AE45-1922FED3306A}" type="slidenum">
              <a:rPr lang="en-IN" smtClean="0"/>
              <a:t>‹#›</a:t>
            </a:fld>
            <a:endParaRPr lang="en-IN"/>
          </a:p>
        </p:txBody>
      </p:sp>
    </p:spTree>
    <p:extLst>
      <p:ext uri="{BB962C8B-B14F-4D97-AF65-F5344CB8AC3E}">
        <p14:creationId xmlns:p14="http://schemas.microsoft.com/office/powerpoint/2010/main" val="25053185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13B1363B-B2D1-4AD5-A5CC-41132C8B1F19}" type="datetimeFigureOut">
              <a:rPr lang="en-IN" smtClean="0"/>
              <a:t>06-07-2022</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B0B99637-4841-4F84-AE45-1922FED3306A}" type="slidenum">
              <a:rPr lang="en-IN" smtClean="0"/>
              <a:t>‹#›</a:t>
            </a:fld>
            <a:endParaRPr lang="en-IN"/>
          </a:p>
        </p:txBody>
      </p:sp>
    </p:spTree>
    <p:extLst>
      <p:ext uri="{BB962C8B-B14F-4D97-AF65-F5344CB8AC3E}">
        <p14:creationId xmlns:p14="http://schemas.microsoft.com/office/powerpoint/2010/main" val="583405106"/>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3043092"/>
          </a:xfrm>
        </p:spPr>
        <p:txBody>
          <a:bodyPr>
            <a:normAutofit/>
          </a:bodyPr>
          <a:lstStyle/>
          <a:p>
            <a:pPr algn="ctr"/>
            <a:r>
              <a:rPr lang="en-US" sz="8800" dirty="0" smtClean="0"/>
              <a:t>OPRTATING SYSTEM</a:t>
            </a:r>
            <a:endParaRPr lang="en-IN" sz="8800" dirty="0"/>
          </a:p>
        </p:txBody>
      </p:sp>
    </p:spTree>
    <p:extLst>
      <p:ext uri="{BB962C8B-B14F-4D97-AF65-F5344CB8AC3E}">
        <p14:creationId xmlns:p14="http://schemas.microsoft.com/office/powerpoint/2010/main" val="42744164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89211" y="451622"/>
            <a:ext cx="8915399" cy="906123"/>
          </a:xfrm>
        </p:spPr>
        <p:txBody>
          <a:bodyPr/>
          <a:lstStyle/>
          <a:p>
            <a:r>
              <a:rPr lang="en-US" dirty="0" smtClean="0"/>
              <a:t>List of Topics</a:t>
            </a:r>
            <a:endParaRPr lang="en-IN" dirty="0"/>
          </a:p>
        </p:txBody>
      </p:sp>
      <p:sp>
        <p:nvSpPr>
          <p:cNvPr id="3" name="Text Placeholder 2"/>
          <p:cNvSpPr>
            <a:spLocks noGrp="1"/>
          </p:cNvSpPr>
          <p:nvPr>
            <p:ph type="body" idx="1"/>
          </p:nvPr>
        </p:nvSpPr>
        <p:spPr>
          <a:xfrm>
            <a:off x="2589212" y="1690255"/>
            <a:ext cx="8915399" cy="4835236"/>
          </a:xfrm>
        </p:spPr>
        <p:txBody>
          <a:bodyPr/>
          <a:lstStyle/>
          <a:p>
            <a:pPr marL="342900" indent="-342900">
              <a:buFont typeface="Wingdings" panose="05000000000000000000" pitchFamily="2" charset="2"/>
              <a:buChar char="Ø"/>
            </a:pPr>
            <a:r>
              <a:rPr lang="en-US" dirty="0" smtClean="0"/>
              <a:t>Introduction to Operating System</a:t>
            </a:r>
          </a:p>
          <a:p>
            <a:pPr marL="342900" indent="-342900">
              <a:buFont typeface="Wingdings" panose="05000000000000000000" pitchFamily="2" charset="2"/>
              <a:buChar char="Ø"/>
            </a:pPr>
            <a:r>
              <a:rPr lang="en-US" dirty="0" smtClean="0"/>
              <a:t>Process Management</a:t>
            </a:r>
          </a:p>
          <a:p>
            <a:pPr marL="342900" indent="-342900">
              <a:buFont typeface="Wingdings" panose="05000000000000000000" pitchFamily="2" charset="2"/>
              <a:buChar char="Ø"/>
            </a:pPr>
            <a:r>
              <a:rPr lang="en-US" dirty="0" smtClean="0"/>
              <a:t>Inter Process Communication</a:t>
            </a:r>
          </a:p>
          <a:p>
            <a:pPr marL="342900" indent="-342900">
              <a:buFont typeface="Wingdings" panose="05000000000000000000" pitchFamily="2" charset="2"/>
              <a:buChar char="Ø"/>
            </a:pPr>
            <a:r>
              <a:rPr lang="en-US" dirty="0" smtClean="0"/>
              <a:t>Deadlock</a:t>
            </a:r>
          </a:p>
          <a:p>
            <a:pPr marL="342900" indent="-342900">
              <a:buFont typeface="Wingdings" panose="05000000000000000000" pitchFamily="2" charset="2"/>
              <a:buChar char="Ø"/>
            </a:pPr>
            <a:r>
              <a:rPr lang="en-US" dirty="0" smtClean="0"/>
              <a:t>Memory Management</a:t>
            </a:r>
          </a:p>
          <a:p>
            <a:pPr marL="342900" indent="-342900">
              <a:buFont typeface="Wingdings" panose="05000000000000000000" pitchFamily="2" charset="2"/>
              <a:buChar char="Ø"/>
            </a:pPr>
            <a:r>
              <a:rPr lang="en-US" dirty="0" smtClean="0"/>
              <a:t>I/O Management</a:t>
            </a:r>
          </a:p>
          <a:p>
            <a:pPr marL="342900" indent="-342900">
              <a:buFont typeface="Wingdings" panose="05000000000000000000" pitchFamily="2" charset="2"/>
              <a:buChar char="Ø"/>
            </a:pPr>
            <a:r>
              <a:rPr lang="en-US" dirty="0" smtClean="0"/>
              <a:t>File System</a:t>
            </a:r>
          </a:p>
          <a:p>
            <a:pPr marL="342900" indent="-342900">
              <a:buFont typeface="Wingdings" panose="05000000000000000000" pitchFamily="2" charset="2"/>
              <a:buChar char="Ø"/>
            </a:pPr>
            <a:r>
              <a:rPr lang="en-US" dirty="0" smtClean="0"/>
              <a:t>System Protection</a:t>
            </a:r>
          </a:p>
          <a:p>
            <a:pPr marL="342900" indent="-342900">
              <a:buFont typeface="Wingdings" panose="05000000000000000000" pitchFamily="2" charset="2"/>
              <a:buChar char="Ø"/>
            </a:pPr>
            <a:r>
              <a:rPr lang="en-US" dirty="0" smtClean="0"/>
              <a:t>Unix/Linux File system</a:t>
            </a:r>
          </a:p>
          <a:p>
            <a:pPr marL="342900" indent="-342900">
              <a:buFont typeface="Wingdings" panose="05000000000000000000" pitchFamily="2" charset="2"/>
              <a:buChar char="Ø"/>
            </a:pPr>
            <a:r>
              <a:rPr lang="en-US" dirty="0" smtClean="0"/>
              <a:t>Case Study on XV6 Operating System</a:t>
            </a:r>
            <a:endParaRPr lang="en-IN" dirty="0"/>
          </a:p>
        </p:txBody>
      </p:sp>
    </p:spTree>
    <p:extLst>
      <p:ext uri="{BB962C8B-B14F-4D97-AF65-F5344CB8AC3E}">
        <p14:creationId xmlns:p14="http://schemas.microsoft.com/office/powerpoint/2010/main" val="36338784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1052945"/>
            <a:ext cx="8915399" cy="1163782"/>
          </a:xfrm>
        </p:spPr>
        <p:txBody>
          <a:bodyPr>
            <a:noAutofit/>
          </a:bodyPr>
          <a:lstStyle/>
          <a:p>
            <a:r>
              <a:rPr lang="en-IN" sz="4800" dirty="0"/>
              <a:t>Introduction to Operating System</a:t>
            </a:r>
          </a:p>
        </p:txBody>
      </p:sp>
      <p:sp>
        <p:nvSpPr>
          <p:cNvPr id="3" name="Subtitle 2"/>
          <p:cNvSpPr>
            <a:spLocks noGrp="1"/>
          </p:cNvSpPr>
          <p:nvPr>
            <p:ph type="subTitle" idx="1"/>
          </p:nvPr>
        </p:nvSpPr>
        <p:spPr>
          <a:xfrm>
            <a:off x="2589213" y="3519055"/>
            <a:ext cx="8915399" cy="3172690"/>
          </a:xfrm>
        </p:spPr>
        <p:txBody>
          <a:bodyPr>
            <a:normAutofit/>
          </a:bodyPr>
          <a:lstStyle/>
          <a:p>
            <a:pPr marL="285750" indent="-285750">
              <a:buFont typeface="Wingdings" panose="05000000000000000000" pitchFamily="2" charset="2"/>
              <a:buChar char="Ø"/>
            </a:pPr>
            <a:r>
              <a:rPr lang="en-US" sz="2800" dirty="0" smtClean="0"/>
              <a:t>What is Operating System</a:t>
            </a:r>
          </a:p>
          <a:p>
            <a:pPr marL="285750" indent="-285750">
              <a:buFont typeface="Wingdings" panose="05000000000000000000" pitchFamily="2" charset="2"/>
              <a:buChar char="Ø"/>
            </a:pPr>
            <a:r>
              <a:rPr lang="en-IN" sz="2800" dirty="0"/>
              <a:t>Need for an OS:</a:t>
            </a:r>
          </a:p>
          <a:p>
            <a:pPr marL="285750" indent="-285750">
              <a:buFont typeface="Wingdings" panose="05000000000000000000" pitchFamily="2" charset="2"/>
              <a:buChar char="Ø"/>
            </a:pPr>
            <a:r>
              <a:rPr lang="en-IN" sz="2800" dirty="0"/>
              <a:t>User and System </a:t>
            </a:r>
            <a:r>
              <a:rPr lang="en-IN" sz="2800" dirty="0" smtClean="0"/>
              <a:t>View</a:t>
            </a:r>
            <a:endParaRPr lang="en-IN" sz="2800" dirty="0"/>
          </a:p>
          <a:p>
            <a:pPr marL="285750" indent="-285750">
              <a:buFont typeface="Wingdings" panose="05000000000000000000" pitchFamily="2" charset="2"/>
              <a:buChar char="Ø"/>
            </a:pPr>
            <a:r>
              <a:rPr lang="en-US" sz="2800" dirty="0"/>
              <a:t>History of OS</a:t>
            </a:r>
          </a:p>
          <a:p>
            <a:pPr marL="285750" indent="-285750">
              <a:buFont typeface="Wingdings" panose="05000000000000000000" pitchFamily="2" charset="2"/>
              <a:buChar char="Ø"/>
            </a:pPr>
            <a:r>
              <a:rPr lang="en-IN" sz="2800" dirty="0"/>
              <a:t>Processes and </a:t>
            </a:r>
            <a:r>
              <a:rPr lang="en-IN" sz="2800" dirty="0" smtClean="0"/>
              <a:t>Tools</a:t>
            </a:r>
            <a:endParaRPr lang="en-IN" sz="2800" dirty="0"/>
          </a:p>
        </p:txBody>
      </p:sp>
    </p:spTree>
    <p:extLst>
      <p:ext uri="{BB962C8B-B14F-4D97-AF65-F5344CB8AC3E}">
        <p14:creationId xmlns:p14="http://schemas.microsoft.com/office/powerpoint/2010/main" val="29242199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89211" y="368495"/>
            <a:ext cx="8915399" cy="1307905"/>
          </a:xfrm>
        </p:spPr>
        <p:txBody>
          <a:bodyPr>
            <a:normAutofit/>
          </a:bodyPr>
          <a:lstStyle/>
          <a:p>
            <a:r>
              <a:rPr lang="en-IN" dirty="0" smtClean="0"/>
              <a:t>What is Operating System</a:t>
            </a:r>
            <a:endParaRPr lang="en-IN" dirty="0"/>
          </a:p>
        </p:txBody>
      </p:sp>
      <p:sp>
        <p:nvSpPr>
          <p:cNvPr id="3" name="Text Placeholder 2"/>
          <p:cNvSpPr>
            <a:spLocks noGrp="1"/>
          </p:cNvSpPr>
          <p:nvPr>
            <p:ph type="body" idx="1"/>
          </p:nvPr>
        </p:nvSpPr>
        <p:spPr>
          <a:xfrm>
            <a:off x="2589212" y="2008910"/>
            <a:ext cx="8915399" cy="4544290"/>
          </a:xfrm>
        </p:spPr>
        <p:txBody>
          <a:bodyPr/>
          <a:lstStyle/>
          <a:p>
            <a:pPr marL="342900" indent="-342900" algn="just">
              <a:buFont typeface="Wingdings" panose="05000000000000000000" pitchFamily="2" charset="2"/>
              <a:buChar char="Ø"/>
            </a:pPr>
            <a:r>
              <a:rPr lang="en-US" dirty="0"/>
              <a:t>Operating System (or shortly OS) primarily provides services for running applications on  a computer system</a:t>
            </a:r>
            <a:r>
              <a:rPr lang="en-US" dirty="0" smtClean="0"/>
              <a:t>.</a:t>
            </a:r>
          </a:p>
          <a:p>
            <a:pPr marL="342900" indent="-342900" algn="just">
              <a:buFont typeface="Wingdings" panose="05000000000000000000" pitchFamily="2" charset="2"/>
              <a:buChar char="Ø"/>
            </a:pPr>
            <a:r>
              <a:rPr lang="en-US" dirty="0" smtClean="0"/>
              <a:t>A Program that acts as an intermediary between a user of a computer and computer hardware. </a:t>
            </a:r>
          </a:p>
          <a:p>
            <a:pPr marL="342900" indent="-342900" algn="just">
              <a:buFont typeface="Wingdings" panose="05000000000000000000" pitchFamily="2" charset="2"/>
              <a:buChar char="Ø"/>
            </a:pPr>
            <a:r>
              <a:rPr lang="en-US" dirty="0" smtClean="0"/>
              <a:t>Goals of OS:- </a:t>
            </a:r>
          </a:p>
          <a:p>
            <a:pPr marL="800100" lvl="1" indent="-342900" algn="just">
              <a:buFont typeface="Wingdings" panose="05000000000000000000" pitchFamily="2" charset="2"/>
              <a:buChar char="Ø"/>
            </a:pPr>
            <a:r>
              <a:rPr lang="en-US" sz="2000" dirty="0" smtClean="0"/>
              <a:t>Execute user programs and makes solving user problems easier.</a:t>
            </a:r>
          </a:p>
          <a:p>
            <a:pPr marL="800100" lvl="1" indent="-342900" algn="just">
              <a:buFont typeface="Wingdings" panose="05000000000000000000" pitchFamily="2" charset="2"/>
              <a:buChar char="Ø"/>
            </a:pPr>
            <a:r>
              <a:rPr lang="en-US" sz="2000" dirty="0" smtClean="0"/>
              <a:t>Makes the computer system convenient to use.</a:t>
            </a:r>
          </a:p>
          <a:p>
            <a:pPr marL="800100" lvl="1" indent="-342900" algn="just">
              <a:buFont typeface="Wingdings" panose="05000000000000000000" pitchFamily="2" charset="2"/>
              <a:buChar char="Ø"/>
            </a:pPr>
            <a:r>
              <a:rPr lang="en-US" sz="2000" dirty="0" smtClean="0"/>
              <a:t>Use the computer hardware in an efficient manner. </a:t>
            </a:r>
            <a:endParaRPr lang="en-IN" sz="2000" dirty="0"/>
          </a:p>
        </p:txBody>
      </p:sp>
    </p:spTree>
    <p:extLst>
      <p:ext uri="{BB962C8B-B14F-4D97-AF65-F5344CB8AC3E}">
        <p14:creationId xmlns:p14="http://schemas.microsoft.com/office/powerpoint/2010/main" val="36486495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89212" y="374074"/>
            <a:ext cx="8915399" cy="1011382"/>
          </a:xfrm>
        </p:spPr>
        <p:txBody>
          <a:bodyPr/>
          <a:lstStyle/>
          <a:p>
            <a:r>
              <a:rPr lang="en-US" dirty="0" smtClean="0"/>
              <a:t>Need of Operating System</a:t>
            </a:r>
            <a:endParaRPr lang="en-IN" dirty="0"/>
          </a:p>
        </p:txBody>
      </p:sp>
      <p:sp>
        <p:nvSpPr>
          <p:cNvPr id="3" name="Text Placeholder 2"/>
          <p:cNvSpPr>
            <a:spLocks noGrp="1"/>
          </p:cNvSpPr>
          <p:nvPr>
            <p:ph type="body" idx="1"/>
          </p:nvPr>
        </p:nvSpPr>
        <p:spPr>
          <a:xfrm>
            <a:off x="2589212" y="2299856"/>
            <a:ext cx="8915399" cy="4558144"/>
          </a:xfrm>
        </p:spPr>
        <p:txBody>
          <a:bodyPr>
            <a:normAutofit/>
          </a:bodyPr>
          <a:lstStyle/>
          <a:p>
            <a:pPr marL="342900" indent="-342900" algn="just">
              <a:buFont typeface="Wingdings" panose="05000000000000000000" pitchFamily="2" charset="2"/>
              <a:buChar char="Ø"/>
            </a:pPr>
            <a:r>
              <a:rPr lang="en-US" dirty="0" smtClean="0"/>
              <a:t>The </a:t>
            </a:r>
            <a:r>
              <a:rPr lang="en-US" dirty="0"/>
              <a:t>central part of a </a:t>
            </a:r>
            <a:r>
              <a:rPr lang="en-US" dirty="0" smtClean="0"/>
              <a:t>computer </a:t>
            </a:r>
            <a:r>
              <a:rPr lang="en-US" dirty="0"/>
              <a:t>system is a processing engine called CPU. A system should make it possible </a:t>
            </a:r>
            <a:r>
              <a:rPr lang="en-US" dirty="0" smtClean="0"/>
              <a:t>for </a:t>
            </a:r>
            <a:r>
              <a:rPr lang="en-US" dirty="0"/>
              <a:t>a user’s application to use the processing unit. </a:t>
            </a:r>
            <a:endParaRPr lang="en-US" dirty="0" smtClean="0"/>
          </a:p>
          <a:p>
            <a:pPr marL="342900" indent="-342900" algn="just">
              <a:buFont typeface="Wingdings" panose="05000000000000000000" pitchFamily="2" charset="2"/>
              <a:buChar char="Ø"/>
            </a:pPr>
            <a:r>
              <a:rPr lang="en-US" dirty="0" smtClean="0"/>
              <a:t>A </a:t>
            </a:r>
            <a:r>
              <a:rPr lang="en-US" dirty="0"/>
              <a:t>user application would need to </a:t>
            </a:r>
            <a:r>
              <a:rPr lang="en-US" dirty="0" smtClean="0"/>
              <a:t>store information</a:t>
            </a:r>
            <a:r>
              <a:rPr lang="en-US" dirty="0"/>
              <a:t>. The OS makes memory available to an application when required. </a:t>
            </a:r>
            <a:endParaRPr lang="en-US" dirty="0" smtClean="0"/>
          </a:p>
          <a:p>
            <a:pPr marL="342900" indent="-342900" algn="just">
              <a:buFont typeface="Wingdings" panose="05000000000000000000" pitchFamily="2" charset="2"/>
              <a:buChar char="Ø"/>
            </a:pPr>
            <a:r>
              <a:rPr lang="en-US" dirty="0" smtClean="0"/>
              <a:t>Similarly</a:t>
            </a:r>
            <a:r>
              <a:rPr lang="en-US" dirty="0"/>
              <a:t>, </a:t>
            </a:r>
            <a:r>
              <a:rPr lang="en-US" dirty="0" smtClean="0"/>
              <a:t>user </a:t>
            </a:r>
            <a:r>
              <a:rPr lang="en-US" dirty="0"/>
              <a:t>applications need use of input facility </a:t>
            </a:r>
            <a:r>
              <a:rPr lang="en-US" dirty="0" smtClean="0"/>
              <a:t>to communicate </a:t>
            </a:r>
            <a:r>
              <a:rPr lang="en-US" dirty="0"/>
              <a:t>with the application. </a:t>
            </a:r>
            <a:endParaRPr lang="en-US" dirty="0" smtClean="0"/>
          </a:p>
          <a:p>
            <a:pPr marL="342900" indent="-342900" algn="just">
              <a:buFont typeface="Wingdings" panose="05000000000000000000" pitchFamily="2" charset="2"/>
              <a:buChar char="Ø"/>
            </a:pPr>
            <a:r>
              <a:rPr lang="en-US" dirty="0" smtClean="0"/>
              <a:t>This </a:t>
            </a:r>
            <a:r>
              <a:rPr lang="en-US" dirty="0"/>
              <a:t>is </a:t>
            </a:r>
            <a:r>
              <a:rPr lang="en-US" dirty="0" smtClean="0"/>
              <a:t>often </a:t>
            </a:r>
            <a:r>
              <a:rPr lang="en-US" dirty="0"/>
              <a:t>in the form of a key board, or a mouse or even a joy stick (if the application is a </a:t>
            </a:r>
            <a:r>
              <a:rPr lang="en-US" dirty="0" smtClean="0"/>
              <a:t>game </a:t>
            </a:r>
            <a:r>
              <a:rPr lang="en-US" dirty="0"/>
              <a:t>for instance). </a:t>
            </a:r>
            <a:endParaRPr lang="en-IN" dirty="0"/>
          </a:p>
        </p:txBody>
      </p:sp>
    </p:spTree>
    <p:extLst>
      <p:ext uri="{BB962C8B-B14F-4D97-AF65-F5344CB8AC3E}">
        <p14:creationId xmlns:p14="http://schemas.microsoft.com/office/powerpoint/2010/main" val="19841331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7018" y="446088"/>
            <a:ext cx="5694218" cy="1770640"/>
          </a:xfrm>
        </p:spPr>
        <p:txBody>
          <a:bodyPr>
            <a:normAutofit/>
          </a:bodyPr>
          <a:lstStyle/>
          <a:p>
            <a:pPr marL="342900" indent="-342900" algn="just">
              <a:buFont typeface="Wingdings" panose="05000000000000000000" pitchFamily="2" charset="2"/>
              <a:buChar char="Ø"/>
            </a:pPr>
            <a:r>
              <a:rPr lang="en-US" dirty="0" smtClean="0"/>
              <a:t>Output </a:t>
            </a:r>
            <a:r>
              <a:rPr lang="en-US" dirty="0"/>
              <a:t>may </a:t>
            </a:r>
            <a:r>
              <a:rPr lang="en-US" dirty="0" smtClean="0"/>
              <a:t>be available in </a:t>
            </a:r>
            <a:r>
              <a:rPr lang="en-US" dirty="0"/>
              <a:t>some other forms. For example it may be a video or an audio file. </a:t>
            </a:r>
            <a:endParaRPr lang="en-IN"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287491" y="1595646"/>
            <a:ext cx="4217122" cy="3115845"/>
          </a:xfrm>
        </p:spPr>
      </p:pic>
      <p:sp>
        <p:nvSpPr>
          <p:cNvPr id="4" name="Text Placeholder 3"/>
          <p:cNvSpPr>
            <a:spLocks noGrp="1"/>
          </p:cNvSpPr>
          <p:nvPr>
            <p:ph type="body" sz="half" idx="2"/>
          </p:nvPr>
        </p:nvSpPr>
        <p:spPr>
          <a:xfrm>
            <a:off x="1427018" y="2840183"/>
            <a:ext cx="5694218" cy="3768436"/>
          </a:xfrm>
        </p:spPr>
        <p:txBody>
          <a:bodyPr>
            <a:normAutofit/>
          </a:bodyPr>
          <a:lstStyle/>
          <a:p>
            <a:r>
              <a:rPr lang="en-US" sz="2400" dirty="0"/>
              <a:t>Let us consider few applications</a:t>
            </a:r>
            <a:r>
              <a:rPr lang="en-US" sz="2400" dirty="0" smtClean="0"/>
              <a:t>.</a:t>
            </a:r>
          </a:p>
          <a:p>
            <a:pPr marL="285750" indent="-285750">
              <a:buFont typeface="Wingdings" panose="05000000000000000000" pitchFamily="2" charset="2"/>
              <a:buChar char="Ø"/>
            </a:pPr>
            <a:r>
              <a:rPr lang="en-IN" sz="2400" dirty="0"/>
              <a:t>Document </a:t>
            </a:r>
            <a:r>
              <a:rPr lang="en-IN" sz="2400" dirty="0" smtClean="0"/>
              <a:t>Design</a:t>
            </a:r>
          </a:p>
          <a:p>
            <a:pPr marL="285750" indent="-285750">
              <a:buFont typeface="Wingdings" panose="05000000000000000000" pitchFamily="2" charset="2"/>
              <a:buChar char="Ø"/>
            </a:pPr>
            <a:r>
              <a:rPr lang="en-IN" sz="2400" dirty="0" smtClean="0"/>
              <a:t>Accounting</a:t>
            </a:r>
          </a:p>
          <a:p>
            <a:pPr marL="285750" indent="-285750">
              <a:buFont typeface="Wingdings" panose="05000000000000000000" pitchFamily="2" charset="2"/>
              <a:buChar char="Ø"/>
            </a:pPr>
            <a:r>
              <a:rPr lang="en-IN" sz="2400" dirty="0"/>
              <a:t>E-mail </a:t>
            </a:r>
            <a:endParaRPr lang="en-IN" sz="2400" dirty="0" smtClean="0"/>
          </a:p>
          <a:p>
            <a:pPr marL="285750" indent="-285750">
              <a:buFont typeface="Wingdings" panose="05000000000000000000" pitchFamily="2" charset="2"/>
              <a:buChar char="Ø"/>
            </a:pPr>
            <a:r>
              <a:rPr lang="en-IN" sz="2400" dirty="0"/>
              <a:t>Image processing </a:t>
            </a:r>
            <a:endParaRPr lang="en-IN" sz="2400" dirty="0" smtClean="0"/>
          </a:p>
          <a:p>
            <a:pPr marL="285750" indent="-285750">
              <a:buFont typeface="Wingdings" panose="05000000000000000000" pitchFamily="2" charset="2"/>
              <a:buChar char="Ø"/>
            </a:pPr>
            <a:r>
              <a:rPr lang="en-IN" sz="2400" dirty="0"/>
              <a:t>Games</a:t>
            </a:r>
          </a:p>
        </p:txBody>
      </p:sp>
    </p:spTree>
    <p:extLst>
      <p:ext uri="{BB962C8B-B14F-4D97-AF65-F5344CB8AC3E}">
        <p14:creationId xmlns:p14="http://schemas.microsoft.com/office/powerpoint/2010/main" val="5027858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1219200"/>
          </a:xfrm>
        </p:spPr>
        <p:txBody>
          <a:bodyPr>
            <a:normAutofit fontScale="90000"/>
          </a:bodyPr>
          <a:lstStyle/>
          <a:p>
            <a:r>
              <a:rPr lang="en-US" dirty="0" smtClean="0"/>
              <a:t>Each </a:t>
            </a:r>
            <a:r>
              <a:rPr lang="en-US" dirty="0"/>
              <a:t>of the above application requires </a:t>
            </a:r>
            <a:r>
              <a:rPr lang="en-US" dirty="0" smtClean="0"/>
              <a:t>resources</a:t>
            </a:r>
            <a:endParaRPr lang="en-IN" dirty="0"/>
          </a:p>
        </p:txBody>
      </p:sp>
      <p:sp>
        <p:nvSpPr>
          <p:cNvPr id="3" name="Text Placeholder 2"/>
          <p:cNvSpPr>
            <a:spLocks noGrp="1"/>
          </p:cNvSpPr>
          <p:nvPr>
            <p:ph type="body" idx="1"/>
          </p:nvPr>
        </p:nvSpPr>
        <p:spPr>
          <a:xfrm>
            <a:off x="2589212" y="2341418"/>
            <a:ext cx="8915399" cy="3837709"/>
          </a:xfrm>
        </p:spPr>
        <p:txBody>
          <a:bodyPr/>
          <a:lstStyle/>
          <a:p>
            <a:pPr marL="342900" indent="-342900">
              <a:buFont typeface="Wingdings" panose="05000000000000000000" pitchFamily="2" charset="2"/>
              <a:buChar char="Ø"/>
            </a:pPr>
            <a:r>
              <a:rPr lang="en-IN" dirty="0"/>
              <a:t>Processing </a:t>
            </a:r>
            <a:r>
              <a:rPr lang="en-IN" dirty="0" smtClean="0"/>
              <a:t>information</a:t>
            </a:r>
          </a:p>
          <a:p>
            <a:pPr marL="342900" indent="-342900">
              <a:buFont typeface="Wingdings" panose="05000000000000000000" pitchFamily="2" charset="2"/>
              <a:buChar char="Ø"/>
            </a:pPr>
            <a:r>
              <a:rPr lang="en-IN" dirty="0"/>
              <a:t>Storage of Information </a:t>
            </a:r>
            <a:endParaRPr lang="en-IN" dirty="0" smtClean="0"/>
          </a:p>
          <a:p>
            <a:pPr marL="342900" indent="-342900">
              <a:buFont typeface="Wingdings" panose="05000000000000000000" pitchFamily="2" charset="2"/>
              <a:buChar char="Ø"/>
            </a:pPr>
            <a:r>
              <a:rPr lang="en-IN" dirty="0"/>
              <a:t>Mechanism to inputting </a:t>
            </a:r>
            <a:r>
              <a:rPr lang="en-IN" dirty="0" smtClean="0"/>
              <a:t>information</a:t>
            </a:r>
          </a:p>
          <a:p>
            <a:pPr marL="342900" indent="-342900">
              <a:buFont typeface="Wingdings" panose="05000000000000000000" pitchFamily="2" charset="2"/>
              <a:buChar char="Ø"/>
            </a:pPr>
            <a:r>
              <a:rPr lang="en-IN" dirty="0"/>
              <a:t>Provision for outputting </a:t>
            </a:r>
            <a:r>
              <a:rPr lang="en-IN" dirty="0" smtClean="0"/>
              <a:t>information</a:t>
            </a:r>
          </a:p>
          <a:p>
            <a:endParaRPr lang="en-IN" dirty="0" smtClean="0"/>
          </a:p>
          <a:p>
            <a:r>
              <a:rPr lang="en-IN" dirty="0" smtClean="0"/>
              <a:t>Note :- </a:t>
            </a:r>
            <a:r>
              <a:rPr lang="en-US" dirty="0"/>
              <a:t>The OS offers generic services to support all the above operations. To that extent an OS operation is </a:t>
            </a:r>
            <a:r>
              <a:rPr lang="en-US" b="1" dirty="0"/>
              <a:t>application neutral </a:t>
            </a:r>
            <a:r>
              <a:rPr lang="en-US" dirty="0"/>
              <a:t>and </a:t>
            </a:r>
            <a:r>
              <a:rPr lang="en-US" b="1" dirty="0"/>
              <a:t>service specific</a:t>
            </a:r>
            <a:r>
              <a:rPr lang="en-US" dirty="0"/>
              <a:t>.</a:t>
            </a:r>
            <a:r>
              <a:rPr lang="en-IN" dirty="0" smtClean="0"/>
              <a:t> </a:t>
            </a:r>
            <a:endParaRPr lang="en-IN" dirty="0"/>
          </a:p>
        </p:txBody>
      </p:sp>
    </p:spTree>
    <p:extLst>
      <p:ext uri="{BB962C8B-B14F-4D97-AF65-F5344CB8AC3E}">
        <p14:creationId xmlns:p14="http://schemas.microsoft.com/office/powerpoint/2010/main" val="31497040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913745"/>
          </a:xfrm>
        </p:spPr>
        <p:txBody>
          <a:bodyPr/>
          <a:lstStyle/>
          <a:p>
            <a:r>
              <a:rPr lang="en-IN" dirty="0"/>
              <a:t>User and System </a:t>
            </a:r>
            <a:r>
              <a:rPr lang="en-IN" dirty="0" smtClean="0"/>
              <a:t>View</a:t>
            </a:r>
            <a:endParaRPr lang="en-IN"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86000" y="2527091"/>
            <a:ext cx="8991600" cy="3873709"/>
          </a:xfrm>
        </p:spPr>
      </p:pic>
    </p:spTree>
    <p:extLst>
      <p:ext uri="{BB962C8B-B14F-4D97-AF65-F5344CB8AC3E}">
        <p14:creationId xmlns:p14="http://schemas.microsoft.com/office/powerpoint/2010/main" val="36138763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4" y="624110"/>
            <a:ext cx="8911687" cy="5277926"/>
          </a:xfrm>
        </p:spPr>
        <p:txBody>
          <a:bodyPr>
            <a:normAutofit/>
          </a:bodyPr>
          <a:lstStyle/>
          <a:p>
            <a:pPr algn="just"/>
            <a:r>
              <a:rPr lang="en-US" sz="2400" dirty="0"/>
              <a:t>From the user point of view the primary consideration is always the convenience. It </a:t>
            </a:r>
            <a:r>
              <a:rPr lang="en-US" sz="2400" dirty="0" smtClean="0"/>
              <a:t>should </a:t>
            </a:r>
            <a:r>
              <a:rPr lang="en-US" sz="2400" dirty="0"/>
              <a:t>be easy to use an application. In launching an application, it helps to have an icon </a:t>
            </a:r>
            <a:r>
              <a:rPr lang="en-US" sz="2400" dirty="0" smtClean="0"/>
              <a:t>which </a:t>
            </a:r>
            <a:r>
              <a:rPr lang="en-US" sz="2400" dirty="0"/>
              <a:t>gives a clue </a:t>
            </a:r>
            <a:r>
              <a:rPr lang="en-US" sz="2400" dirty="0" smtClean="0"/>
              <a:t>which application </a:t>
            </a:r>
            <a:r>
              <a:rPr lang="en-US" sz="2400" dirty="0"/>
              <a:t>it is</a:t>
            </a:r>
            <a:r>
              <a:rPr lang="en-US" sz="2400" dirty="0" smtClean="0"/>
              <a:t>.</a:t>
            </a:r>
            <a:br>
              <a:rPr lang="en-US" sz="2400" dirty="0" smtClean="0"/>
            </a:br>
            <a:r>
              <a:rPr lang="en-US" sz="2400" dirty="0"/>
              <a:t/>
            </a:r>
            <a:br>
              <a:rPr lang="en-US" sz="2400" dirty="0"/>
            </a:br>
            <a:r>
              <a:rPr lang="en-US" sz="2400" dirty="0" smtClean="0"/>
              <a:t>OS </a:t>
            </a:r>
            <a:r>
              <a:rPr lang="en-US" sz="2400" dirty="0"/>
              <a:t>needs to ensure that system resources are utilized efficiently. it is important for an operating system to have a control policy and </a:t>
            </a:r>
            <a:r>
              <a:rPr lang="en-US" sz="2400" dirty="0" smtClean="0"/>
              <a:t>algorithm </a:t>
            </a:r>
            <a:r>
              <a:rPr lang="en-US" sz="2400" dirty="0"/>
              <a:t>to allocate the </a:t>
            </a:r>
            <a:r>
              <a:rPr lang="en-US" sz="2400" dirty="0" smtClean="0"/>
              <a:t>system resources</a:t>
            </a:r>
            <a:r>
              <a:rPr lang="en-US" sz="2400" dirty="0"/>
              <a:t>. </a:t>
            </a:r>
            <a:r>
              <a:rPr lang="en-US" sz="2400" dirty="0" smtClean="0"/>
              <a:t/>
            </a:r>
            <a:br>
              <a:rPr lang="en-US" sz="2400" dirty="0" smtClean="0"/>
            </a:br>
            <a:r>
              <a:rPr lang="en-US" sz="2400" dirty="0" smtClean="0"/>
              <a:t/>
            </a:r>
            <a:br>
              <a:rPr lang="en-US" sz="2400" dirty="0" smtClean="0"/>
            </a:br>
            <a:endParaRPr lang="en-IN" sz="2400" dirty="0"/>
          </a:p>
        </p:txBody>
      </p:sp>
    </p:spTree>
    <p:extLst>
      <p:ext uri="{BB962C8B-B14F-4D97-AF65-F5344CB8AC3E}">
        <p14:creationId xmlns:p14="http://schemas.microsoft.com/office/powerpoint/2010/main" val="371971539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89211" y="105259"/>
            <a:ext cx="8915399" cy="1468800"/>
          </a:xfrm>
        </p:spPr>
        <p:txBody>
          <a:bodyPr/>
          <a:lstStyle/>
          <a:p>
            <a:r>
              <a:rPr lang="en-US" dirty="0"/>
              <a:t>Functions of an Operating System</a:t>
            </a:r>
            <a:endParaRPr lang="en-IN" dirty="0"/>
          </a:p>
        </p:txBody>
      </p:sp>
      <p:sp>
        <p:nvSpPr>
          <p:cNvPr id="3" name="Text Placeholder 2"/>
          <p:cNvSpPr>
            <a:spLocks noGrp="1"/>
          </p:cNvSpPr>
          <p:nvPr>
            <p:ph type="body" idx="1"/>
          </p:nvPr>
        </p:nvSpPr>
        <p:spPr>
          <a:xfrm>
            <a:off x="2589212" y="2133600"/>
            <a:ext cx="8915399" cy="4267200"/>
          </a:xfrm>
        </p:spPr>
        <p:txBody>
          <a:bodyPr/>
          <a:lstStyle/>
          <a:p>
            <a:pPr marL="342900" indent="-342900">
              <a:buFont typeface="Arial" panose="020B0604020202020204" pitchFamily="34" charset="0"/>
              <a:buChar char="•"/>
            </a:pPr>
            <a:r>
              <a:rPr lang="en-IN" dirty="0"/>
              <a:t>Memory </a:t>
            </a:r>
            <a:r>
              <a:rPr lang="en-IN" dirty="0" smtClean="0"/>
              <a:t>Management</a:t>
            </a:r>
          </a:p>
          <a:p>
            <a:pPr marL="342900" indent="-342900">
              <a:buFont typeface="Arial" panose="020B0604020202020204" pitchFamily="34" charset="0"/>
              <a:buChar char="•"/>
            </a:pPr>
            <a:r>
              <a:rPr lang="en-IN" dirty="0"/>
              <a:t>Process </a:t>
            </a:r>
            <a:r>
              <a:rPr lang="en-IN" dirty="0" smtClean="0"/>
              <a:t>Management</a:t>
            </a:r>
          </a:p>
          <a:p>
            <a:pPr marL="342900" indent="-342900">
              <a:buFont typeface="Arial" panose="020B0604020202020204" pitchFamily="34" charset="0"/>
              <a:buChar char="•"/>
            </a:pPr>
            <a:r>
              <a:rPr lang="en-IN" dirty="0"/>
              <a:t>Device </a:t>
            </a:r>
            <a:r>
              <a:rPr lang="en-IN" dirty="0" smtClean="0"/>
              <a:t>Management</a:t>
            </a:r>
          </a:p>
          <a:p>
            <a:pPr marL="342900" indent="-342900">
              <a:buFont typeface="Arial" panose="020B0604020202020204" pitchFamily="34" charset="0"/>
              <a:buChar char="•"/>
            </a:pPr>
            <a:r>
              <a:rPr lang="en-IN" dirty="0"/>
              <a:t>File </a:t>
            </a:r>
            <a:r>
              <a:rPr lang="en-IN" dirty="0" smtClean="0"/>
              <a:t>Management</a:t>
            </a:r>
          </a:p>
          <a:p>
            <a:pPr marL="342900" indent="-342900">
              <a:buFont typeface="Arial" panose="020B0604020202020204" pitchFamily="34" charset="0"/>
              <a:buChar char="•"/>
            </a:pPr>
            <a:r>
              <a:rPr lang="en-IN" dirty="0" smtClean="0"/>
              <a:t>Security</a:t>
            </a:r>
          </a:p>
          <a:p>
            <a:pPr marL="342900" indent="-342900">
              <a:buFont typeface="Arial" panose="020B0604020202020204" pitchFamily="34" charset="0"/>
              <a:buChar char="•"/>
            </a:pPr>
            <a:r>
              <a:rPr lang="en-IN" dirty="0" smtClean="0"/>
              <a:t>Control </a:t>
            </a:r>
            <a:r>
              <a:rPr lang="en-IN" dirty="0"/>
              <a:t>over system </a:t>
            </a:r>
            <a:r>
              <a:rPr lang="en-IN" dirty="0" smtClean="0"/>
              <a:t>performance</a:t>
            </a:r>
          </a:p>
          <a:p>
            <a:pPr marL="342900" indent="-342900">
              <a:buFont typeface="Arial" panose="020B0604020202020204" pitchFamily="34" charset="0"/>
              <a:buChar char="•"/>
            </a:pPr>
            <a:r>
              <a:rPr lang="en-IN" dirty="0"/>
              <a:t>Error </a:t>
            </a:r>
            <a:r>
              <a:rPr lang="en-IN" dirty="0" smtClean="0"/>
              <a:t>detecting</a:t>
            </a:r>
          </a:p>
          <a:p>
            <a:pPr marL="342900" indent="-342900">
              <a:buFont typeface="Arial" panose="020B0604020202020204" pitchFamily="34" charset="0"/>
              <a:buChar char="•"/>
            </a:pPr>
            <a:r>
              <a:rPr lang="en-US" dirty="0"/>
              <a:t>Coordination between other software and users</a:t>
            </a:r>
            <a:endParaRPr lang="en-IN" dirty="0"/>
          </a:p>
        </p:txBody>
      </p:sp>
    </p:spTree>
    <p:extLst>
      <p:ext uri="{BB962C8B-B14F-4D97-AF65-F5344CB8AC3E}">
        <p14:creationId xmlns:p14="http://schemas.microsoft.com/office/powerpoint/2010/main" val="376890964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89211" y="105259"/>
            <a:ext cx="8915399" cy="1468800"/>
          </a:xfrm>
        </p:spPr>
        <p:txBody>
          <a:bodyPr/>
          <a:lstStyle/>
          <a:p>
            <a:r>
              <a:rPr lang="en-IN" dirty="0"/>
              <a:t>Types of OS</a:t>
            </a:r>
          </a:p>
        </p:txBody>
      </p:sp>
      <p:sp>
        <p:nvSpPr>
          <p:cNvPr id="3" name="Text Placeholder 2"/>
          <p:cNvSpPr>
            <a:spLocks noGrp="1"/>
          </p:cNvSpPr>
          <p:nvPr>
            <p:ph type="body" idx="1"/>
          </p:nvPr>
        </p:nvSpPr>
        <p:spPr>
          <a:xfrm>
            <a:off x="2589212" y="2133600"/>
            <a:ext cx="8915399" cy="4267200"/>
          </a:xfrm>
        </p:spPr>
        <p:txBody>
          <a:bodyPr/>
          <a:lstStyle/>
          <a:p>
            <a:pPr marL="342900" indent="-342900">
              <a:buFont typeface="Arial" panose="020B0604020202020204" pitchFamily="34" charset="0"/>
              <a:buChar char="•"/>
            </a:pPr>
            <a:r>
              <a:rPr lang="en-IN" dirty="0"/>
              <a:t>Batch operating </a:t>
            </a:r>
            <a:r>
              <a:rPr lang="en-IN" dirty="0" smtClean="0"/>
              <a:t>system</a:t>
            </a:r>
          </a:p>
          <a:p>
            <a:pPr marL="342900" indent="-342900">
              <a:buFont typeface="Arial" panose="020B0604020202020204" pitchFamily="34" charset="0"/>
              <a:buChar char="•"/>
            </a:pPr>
            <a:r>
              <a:rPr lang="en-IN" dirty="0"/>
              <a:t>Time-sharing operating systems </a:t>
            </a:r>
            <a:endParaRPr lang="en-IN" dirty="0" smtClean="0"/>
          </a:p>
          <a:p>
            <a:pPr marL="342900" indent="-342900">
              <a:buFont typeface="Arial" panose="020B0604020202020204" pitchFamily="34" charset="0"/>
              <a:buChar char="•"/>
            </a:pPr>
            <a:r>
              <a:rPr lang="en-IN" dirty="0"/>
              <a:t>Distributed operating </a:t>
            </a:r>
            <a:r>
              <a:rPr lang="en-IN" dirty="0" smtClean="0"/>
              <a:t>System</a:t>
            </a:r>
          </a:p>
          <a:p>
            <a:pPr marL="342900" indent="-342900">
              <a:buFont typeface="Arial" panose="020B0604020202020204" pitchFamily="34" charset="0"/>
              <a:buChar char="•"/>
            </a:pPr>
            <a:r>
              <a:rPr lang="en-IN" dirty="0"/>
              <a:t>Network operating System </a:t>
            </a:r>
            <a:endParaRPr lang="en-IN" dirty="0" smtClean="0"/>
          </a:p>
          <a:p>
            <a:pPr marL="342900" indent="-342900">
              <a:buFont typeface="Arial" panose="020B0604020202020204" pitchFamily="34" charset="0"/>
              <a:buChar char="•"/>
            </a:pPr>
            <a:r>
              <a:rPr lang="en-IN" dirty="0"/>
              <a:t>Real Time operating </a:t>
            </a:r>
            <a:r>
              <a:rPr lang="en-IN" dirty="0" smtClean="0"/>
              <a:t>System</a:t>
            </a:r>
            <a:endParaRPr lang="en-IN" dirty="0" smtClean="0"/>
          </a:p>
        </p:txBody>
      </p:sp>
    </p:spTree>
    <p:extLst>
      <p:ext uri="{BB962C8B-B14F-4D97-AF65-F5344CB8AC3E}">
        <p14:creationId xmlns:p14="http://schemas.microsoft.com/office/powerpoint/2010/main" val="145466937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89211" y="105259"/>
            <a:ext cx="8915399" cy="1468800"/>
          </a:xfrm>
        </p:spPr>
        <p:txBody>
          <a:bodyPr/>
          <a:lstStyle/>
          <a:p>
            <a:r>
              <a:rPr lang="en-IN" dirty="0"/>
              <a:t>Batch operating system</a:t>
            </a:r>
          </a:p>
        </p:txBody>
      </p:sp>
      <p:sp>
        <p:nvSpPr>
          <p:cNvPr id="3" name="Text Placeholder 2"/>
          <p:cNvSpPr>
            <a:spLocks noGrp="1"/>
          </p:cNvSpPr>
          <p:nvPr>
            <p:ph type="body" idx="1"/>
          </p:nvPr>
        </p:nvSpPr>
        <p:spPr>
          <a:xfrm>
            <a:off x="2589212" y="2133600"/>
            <a:ext cx="8915399" cy="4267200"/>
          </a:xfrm>
        </p:spPr>
        <p:txBody>
          <a:bodyPr/>
          <a:lstStyle/>
          <a:p>
            <a:pPr marL="342900" indent="-342900">
              <a:buFont typeface="Arial" panose="020B0604020202020204" pitchFamily="34" charset="0"/>
              <a:buChar char="•"/>
            </a:pPr>
            <a:r>
              <a:rPr lang="en-US" dirty="0"/>
              <a:t>This type of operating system do not interact with the computer directly. </a:t>
            </a:r>
            <a:endParaRPr lang="en-US" dirty="0" smtClean="0"/>
          </a:p>
          <a:p>
            <a:pPr marL="342900" indent="-342900">
              <a:buFont typeface="Arial" panose="020B0604020202020204" pitchFamily="34" charset="0"/>
              <a:buChar char="•"/>
            </a:pPr>
            <a:r>
              <a:rPr lang="en-US" dirty="0"/>
              <a:t>There is an operator which takes similar jobs having same requirement and group them into batches. </a:t>
            </a:r>
            <a:endParaRPr lang="en-US" dirty="0" smtClean="0"/>
          </a:p>
          <a:p>
            <a:pPr marL="342900" indent="-342900">
              <a:buFont typeface="Arial" panose="020B0604020202020204" pitchFamily="34" charset="0"/>
              <a:buChar char="•"/>
            </a:pPr>
            <a:r>
              <a:rPr lang="en-US" dirty="0"/>
              <a:t>It is the responsibility of operator to sort the jobs with similar needs</a:t>
            </a:r>
            <a:r>
              <a:rPr lang="en-US" dirty="0" smtClean="0"/>
              <a:t>.</a:t>
            </a:r>
          </a:p>
        </p:txBody>
      </p:sp>
      <p:pic>
        <p:nvPicPr>
          <p:cNvPr id="4" name="Picture 3"/>
          <p:cNvPicPr>
            <a:picLocks noChangeAspect="1"/>
          </p:cNvPicPr>
          <p:nvPr/>
        </p:nvPicPr>
        <p:blipFill>
          <a:blip r:embed="rId2"/>
          <a:stretch>
            <a:fillRect/>
          </a:stretch>
        </p:blipFill>
        <p:spPr>
          <a:xfrm>
            <a:off x="2743200" y="4028642"/>
            <a:ext cx="8298873" cy="2486025"/>
          </a:xfrm>
          <a:prstGeom prst="rect">
            <a:avLst/>
          </a:prstGeom>
        </p:spPr>
      </p:pic>
    </p:spTree>
    <p:extLst>
      <p:ext uri="{BB962C8B-B14F-4D97-AF65-F5344CB8AC3E}">
        <p14:creationId xmlns:p14="http://schemas.microsoft.com/office/powerpoint/2010/main" val="398115817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89211" y="105259"/>
            <a:ext cx="8915399" cy="1468800"/>
          </a:xfrm>
        </p:spPr>
        <p:txBody>
          <a:bodyPr/>
          <a:lstStyle/>
          <a:p>
            <a:r>
              <a:rPr lang="en-IN" dirty="0"/>
              <a:t>Time-Sharing Operating Systems </a:t>
            </a:r>
            <a:endParaRPr lang="en-IN" dirty="0"/>
          </a:p>
        </p:txBody>
      </p:sp>
      <p:sp>
        <p:nvSpPr>
          <p:cNvPr id="3" name="Text Placeholder 2"/>
          <p:cNvSpPr>
            <a:spLocks noGrp="1"/>
          </p:cNvSpPr>
          <p:nvPr>
            <p:ph type="body" idx="1"/>
          </p:nvPr>
        </p:nvSpPr>
        <p:spPr>
          <a:xfrm>
            <a:off x="2589212" y="2133600"/>
            <a:ext cx="8915399" cy="4267200"/>
          </a:xfrm>
        </p:spPr>
        <p:txBody>
          <a:bodyPr/>
          <a:lstStyle/>
          <a:p>
            <a:pPr marL="342900" indent="-342900">
              <a:buFont typeface="Arial" panose="020B0604020202020204" pitchFamily="34" charset="0"/>
              <a:buChar char="•"/>
            </a:pPr>
            <a:r>
              <a:rPr lang="en-US" dirty="0"/>
              <a:t>Each task has given some time to execute, so that all the tasks work </a:t>
            </a:r>
          </a:p>
          <a:p>
            <a:r>
              <a:rPr lang="en-US" dirty="0"/>
              <a:t>smoothly. </a:t>
            </a:r>
            <a:endParaRPr lang="en-US" dirty="0" smtClean="0"/>
          </a:p>
          <a:p>
            <a:pPr marL="342900" indent="-342900">
              <a:buFont typeface="Arial" panose="020B0604020202020204" pitchFamily="34" charset="0"/>
              <a:buChar char="•"/>
            </a:pPr>
            <a:r>
              <a:rPr lang="en-US" dirty="0"/>
              <a:t>These systems are also known as Multitasking Systems. </a:t>
            </a:r>
            <a:endParaRPr lang="en-US" dirty="0" smtClean="0"/>
          </a:p>
          <a:p>
            <a:pPr marL="342900" indent="-342900">
              <a:buFont typeface="Arial" panose="020B0604020202020204" pitchFamily="34" charset="0"/>
              <a:buChar char="•"/>
            </a:pPr>
            <a:r>
              <a:rPr lang="en-US" dirty="0"/>
              <a:t>The task can be from single user or from different users also.</a:t>
            </a:r>
            <a:endParaRPr lang="en-US" dirty="0" smtClean="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43200" y="3923891"/>
            <a:ext cx="7578436" cy="2934109"/>
          </a:xfrm>
          <a:prstGeom prst="rect">
            <a:avLst/>
          </a:prstGeom>
        </p:spPr>
      </p:pic>
    </p:spTree>
    <p:extLst>
      <p:ext uri="{BB962C8B-B14F-4D97-AF65-F5344CB8AC3E}">
        <p14:creationId xmlns:p14="http://schemas.microsoft.com/office/powerpoint/2010/main" val="133571466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89211" y="105259"/>
            <a:ext cx="8915399" cy="1468800"/>
          </a:xfrm>
        </p:spPr>
        <p:txBody>
          <a:bodyPr/>
          <a:lstStyle/>
          <a:p>
            <a:r>
              <a:rPr lang="en-IN" dirty="0"/>
              <a:t>Time-Sharing Operating Systems </a:t>
            </a:r>
            <a:endParaRPr lang="en-IN" dirty="0"/>
          </a:p>
        </p:txBody>
      </p:sp>
      <p:sp>
        <p:nvSpPr>
          <p:cNvPr id="3" name="Text Placeholder 2"/>
          <p:cNvSpPr>
            <a:spLocks noGrp="1"/>
          </p:cNvSpPr>
          <p:nvPr>
            <p:ph type="body" idx="1"/>
          </p:nvPr>
        </p:nvSpPr>
        <p:spPr>
          <a:xfrm>
            <a:off x="2589212" y="2133600"/>
            <a:ext cx="8915399" cy="4267200"/>
          </a:xfrm>
        </p:spPr>
        <p:txBody>
          <a:bodyPr/>
          <a:lstStyle/>
          <a:p>
            <a:pPr marL="342900" indent="-342900">
              <a:buFont typeface="Arial" panose="020B0604020202020204" pitchFamily="34" charset="0"/>
              <a:buChar char="•"/>
            </a:pPr>
            <a:r>
              <a:rPr lang="en-US" dirty="0"/>
              <a:t>Advantages of Time-Sharing OS</a:t>
            </a:r>
            <a:r>
              <a:rPr lang="en-US" dirty="0" smtClean="0"/>
              <a:t>:</a:t>
            </a:r>
          </a:p>
          <a:p>
            <a:pPr marL="800100" lvl="1" indent="-342900">
              <a:buFont typeface="Arial" panose="020B0604020202020204" pitchFamily="34" charset="0"/>
              <a:buChar char="•"/>
            </a:pPr>
            <a:r>
              <a:rPr lang="en-US" dirty="0"/>
              <a:t>Each task gets an equal opportunity </a:t>
            </a:r>
          </a:p>
          <a:p>
            <a:pPr marL="800100" lvl="1" indent="-342900">
              <a:buFont typeface="Arial" panose="020B0604020202020204" pitchFamily="34" charset="0"/>
              <a:buChar char="•"/>
            </a:pPr>
            <a:r>
              <a:rPr lang="en-US" dirty="0"/>
              <a:t>CPU idle time can be </a:t>
            </a:r>
            <a:r>
              <a:rPr lang="en-US" dirty="0" smtClean="0"/>
              <a:t>reduced</a:t>
            </a:r>
          </a:p>
          <a:p>
            <a:pPr marL="342900" indent="-342900">
              <a:buFont typeface="Arial" panose="020B0604020202020204" pitchFamily="34" charset="0"/>
              <a:buChar char="•"/>
            </a:pPr>
            <a:r>
              <a:rPr lang="en-IN" dirty="0" smtClean="0"/>
              <a:t>Disadvantages of Time-Sharing OS:</a:t>
            </a:r>
          </a:p>
          <a:p>
            <a:pPr marL="800100" lvl="1" indent="-342900">
              <a:buFont typeface="Arial" panose="020B0604020202020204" pitchFamily="34" charset="0"/>
              <a:buChar char="•"/>
            </a:pPr>
            <a:r>
              <a:rPr lang="en-IN" dirty="0"/>
              <a:t>Reliability </a:t>
            </a:r>
            <a:r>
              <a:rPr lang="en-IN" dirty="0" smtClean="0"/>
              <a:t>problem</a:t>
            </a:r>
          </a:p>
          <a:p>
            <a:pPr marL="800100" lvl="1" indent="-342900">
              <a:buFont typeface="Arial" panose="020B0604020202020204" pitchFamily="34" charset="0"/>
              <a:buChar char="•"/>
            </a:pPr>
            <a:r>
              <a:rPr lang="en-IN" dirty="0"/>
              <a:t>Data communication problem</a:t>
            </a:r>
            <a:endParaRPr lang="en-US" dirty="0" smtClean="0"/>
          </a:p>
          <a:p>
            <a:pPr marL="800100" lvl="1" indent="-342900">
              <a:buFont typeface="Arial" panose="020B0604020202020204" pitchFamily="34" charset="0"/>
              <a:buChar char="•"/>
            </a:pPr>
            <a:endParaRPr lang="en-US" dirty="0" smtClean="0"/>
          </a:p>
        </p:txBody>
      </p:sp>
    </p:spTree>
    <p:extLst>
      <p:ext uri="{BB962C8B-B14F-4D97-AF65-F5344CB8AC3E}">
        <p14:creationId xmlns:p14="http://schemas.microsoft.com/office/powerpoint/2010/main" val="357451952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89211" y="105259"/>
            <a:ext cx="8915399" cy="1468800"/>
          </a:xfrm>
        </p:spPr>
        <p:txBody>
          <a:bodyPr/>
          <a:lstStyle/>
          <a:p>
            <a:r>
              <a:rPr lang="en-IN" dirty="0"/>
              <a:t>Distributed Operating System</a:t>
            </a:r>
            <a:endParaRPr lang="en-IN" dirty="0"/>
          </a:p>
        </p:txBody>
      </p:sp>
      <p:sp>
        <p:nvSpPr>
          <p:cNvPr id="3" name="Text Placeholder 2"/>
          <p:cNvSpPr>
            <a:spLocks noGrp="1"/>
          </p:cNvSpPr>
          <p:nvPr>
            <p:ph type="body" idx="1"/>
          </p:nvPr>
        </p:nvSpPr>
        <p:spPr>
          <a:xfrm>
            <a:off x="2589212" y="2133600"/>
            <a:ext cx="8915399" cy="4267200"/>
          </a:xfrm>
        </p:spPr>
        <p:txBody>
          <a:bodyPr/>
          <a:lstStyle/>
          <a:p>
            <a:pPr marL="342900" indent="-342900">
              <a:buFont typeface="Arial" panose="020B0604020202020204" pitchFamily="34" charset="0"/>
              <a:buChar char="•"/>
            </a:pPr>
            <a:r>
              <a:rPr lang="en-US" dirty="0"/>
              <a:t>Various autonomous interconnected computers communicate each other using a shared communication network. </a:t>
            </a:r>
            <a:endParaRPr lang="en-US" dirty="0" smtClean="0"/>
          </a:p>
          <a:p>
            <a:pPr marL="342900" indent="-342900">
              <a:buFont typeface="Arial" panose="020B0604020202020204" pitchFamily="34" charset="0"/>
              <a:buChar char="•"/>
            </a:pPr>
            <a:r>
              <a:rPr lang="en-US" dirty="0"/>
              <a:t>Independent systems possess their own memory unit and CPU. These are referred as loosely coupled systems or distributed systems</a:t>
            </a:r>
            <a:r>
              <a:rPr lang="en-US" dirty="0" smtClean="0"/>
              <a:t>.</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49782" y="3626209"/>
            <a:ext cx="6774873" cy="3124636"/>
          </a:xfrm>
          <a:prstGeom prst="rect">
            <a:avLst/>
          </a:prstGeom>
        </p:spPr>
      </p:pic>
    </p:spTree>
    <p:extLst>
      <p:ext uri="{BB962C8B-B14F-4D97-AF65-F5344CB8AC3E}">
        <p14:creationId xmlns:p14="http://schemas.microsoft.com/office/powerpoint/2010/main" val="229274937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89211" y="105259"/>
            <a:ext cx="8915399" cy="1468800"/>
          </a:xfrm>
        </p:spPr>
        <p:txBody>
          <a:bodyPr/>
          <a:lstStyle/>
          <a:p>
            <a:r>
              <a:rPr lang="en-IN" dirty="0"/>
              <a:t>Distributed Operating System</a:t>
            </a:r>
            <a:endParaRPr lang="en-IN" dirty="0"/>
          </a:p>
        </p:txBody>
      </p:sp>
      <p:sp>
        <p:nvSpPr>
          <p:cNvPr id="3" name="Text Placeholder 2"/>
          <p:cNvSpPr>
            <a:spLocks noGrp="1"/>
          </p:cNvSpPr>
          <p:nvPr>
            <p:ph type="body" idx="1"/>
          </p:nvPr>
        </p:nvSpPr>
        <p:spPr>
          <a:xfrm>
            <a:off x="2589212" y="2133600"/>
            <a:ext cx="8915399" cy="4267200"/>
          </a:xfrm>
        </p:spPr>
        <p:txBody>
          <a:bodyPr/>
          <a:lstStyle/>
          <a:p>
            <a:pPr marL="342900" indent="-342900">
              <a:buFont typeface="Arial" panose="020B0604020202020204" pitchFamily="34" charset="0"/>
              <a:buChar char="•"/>
            </a:pPr>
            <a:r>
              <a:rPr lang="en-US" dirty="0"/>
              <a:t>Advantages of Distributed Operating </a:t>
            </a:r>
            <a:r>
              <a:rPr lang="en-US" dirty="0" smtClean="0"/>
              <a:t>System</a:t>
            </a:r>
          </a:p>
          <a:p>
            <a:pPr marL="800100" lvl="1" indent="-342900">
              <a:buFont typeface="Arial" panose="020B0604020202020204" pitchFamily="34" charset="0"/>
              <a:buChar char="•"/>
            </a:pPr>
            <a:r>
              <a:rPr lang="en-US" dirty="0"/>
              <a:t>Failure of one will not affect the other network communication, as all systems are independent from each other.</a:t>
            </a:r>
          </a:p>
          <a:p>
            <a:pPr marL="800100" lvl="1" indent="-342900">
              <a:buFont typeface="Arial" panose="020B0604020202020204" pitchFamily="34" charset="0"/>
              <a:buChar char="•"/>
            </a:pPr>
            <a:r>
              <a:rPr lang="en-US" dirty="0"/>
              <a:t>Load on host computer reduces</a:t>
            </a:r>
          </a:p>
          <a:p>
            <a:pPr marL="800100" lvl="1" indent="-342900">
              <a:buFont typeface="Arial" panose="020B0604020202020204" pitchFamily="34" charset="0"/>
              <a:buChar char="•"/>
            </a:pPr>
            <a:r>
              <a:rPr lang="en-US" dirty="0"/>
              <a:t>Delay in data processing </a:t>
            </a:r>
            <a:r>
              <a:rPr lang="en-US" dirty="0" smtClean="0"/>
              <a:t>reduces</a:t>
            </a:r>
          </a:p>
          <a:p>
            <a:pPr marL="342900" indent="-342900">
              <a:buFont typeface="Arial" panose="020B0604020202020204" pitchFamily="34" charset="0"/>
              <a:buChar char="•"/>
            </a:pPr>
            <a:r>
              <a:rPr lang="en-US" dirty="0"/>
              <a:t>Disadvantages of Distributed Operating System</a:t>
            </a:r>
            <a:r>
              <a:rPr lang="en-US" dirty="0" smtClean="0"/>
              <a:t>:</a:t>
            </a:r>
          </a:p>
          <a:p>
            <a:pPr marL="800100" lvl="1" indent="-342900">
              <a:buFont typeface="Arial" panose="020B0604020202020204" pitchFamily="34" charset="0"/>
              <a:buChar char="•"/>
            </a:pPr>
            <a:r>
              <a:rPr lang="en-US" dirty="0"/>
              <a:t>Failure of the main network will stop the entire communication</a:t>
            </a:r>
            <a:endParaRPr lang="en-US" dirty="0" smtClean="0"/>
          </a:p>
          <a:p>
            <a:pPr lvl="1"/>
            <a:endParaRPr lang="en-US" dirty="0" smtClean="0"/>
          </a:p>
        </p:txBody>
      </p:sp>
    </p:spTree>
    <p:extLst>
      <p:ext uri="{BB962C8B-B14F-4D97-AF65-F5344CB8AC3E}">
        <p14:creationId xmlns:p14="http://schemas.microsoft.com/office/powerpoint/2010/main" val="328596248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89211" y="105259"/>
            <a:ext cx="8915399" cy="1468800"/>
          </a:xfrm>
        </p:spPr>
        <p:txBody>
          <a:bodyPr/>
          <a:lstStyle/>
          <a:p>
            <a:r>
              <a:rPr lang="en-IN" dirty="0"/>
              <a:t>Network Operating System </a:t>
            </a:r>
            <a:endParaRPr lang="en-IN" dirty="0"/>
          </a:p>
        </p:txBody>
      </p:sp>
      <p:sp>
        <p:nvSpPr>
          <p:cNvPr id="3" name="Text Placeholder 2"/>
          <p:cNvSpPr>
            <a:spLocks noGrp="1"/>
          </p:cNvSpPr>
          <p:nvPr>
            <p:ph type="body" idx="1"/>
          </p:nvPr>
        </p:nvSpPr>
        <p:spPr>
          <a:xfrm>
            <a:off x="2589212" y="2133600"/>
            <a:ext cx="8915399" cy="4267200"/>
          </a:xfrm>
        </p:spPr>
        <p:txBody>
          <a:bodyPr/>
          <a:lstStyle/>
          <a:p>
            <a:pPr marL="342900" indent="-342900">
              <a:buFont typeface="Arial" panose="020B0604020202020204" pitchFamily="34" charset="0"/>
              <a:buChar char="•"/>
            </a:pPr>
            <a:r>
              <a:rPr lang="en-US" dirty="0"/>
              <a:t>These systems runs on a server and provides the capability to manage data, users, groups, security, applications, and other networking functions</a:t>
            </a:r>
            <a:r>
              <a:rPr lang="en-US" dirty="0" smtClean="0"/>
              <a:t>.</a:t>
            </a:r>
          </a:p>
          <a:p>
            <a:pPr marL="342900" indent="-342900">
              <a:buFont typeface="Arial" panose="020B0604020202020204" pitchFamily="34" charset="0"/>
              <a:buChar char="•"/>
            </a:pPr>
            <a:r>
              <a:rPr lang="en-US" dirty="0"/>
              <a:t>These type of operating systems allows shared access of files, printers, security, applications, and other networking functions over a small private network.</a:t>
            </a:r>
            <a:endParaRPr lang="en-US" dirty="0" smtClean="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84472" y="3891497"/>
            <a:ext cx="3013630" cy="2772539"/>
          </a:xfrm>
          <a:prstGeom prst="rect">
            <a:avLst/>
          </a:prstGeom>
        </p:spPr>
      </p:pic>
    </p:spTree>
    <p:extLst>
      <p:ext uri="{BB962C8B-B14F-4D97-AF65-F5344CB8AC3E}">
        <p14:creationId xmlns:p14="http://schemas.microsoft.com/office/powerpoint/2010/main" val="99715935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89211" y="105259"/>
            <a:ext cx="8915399" cy="1468800"/>
          </a:xfrm>
        </p:spPr>
        <p:txBody>
          <a:bodyPr/>
          <a:lstStyle/>
          <a:p>
            <a:r>
              <a:rPr lang="en-IN" dirty="0"/>
              <a:t>Network Operating System </a:t>
            </a:r>
            <a:endParaRPr lang="en-IN" dirty="0"/>
          </a:p>
        </p:txBody>
      </p:sp>
      <p:sp>
        <p:nvSpPr>
          <p:cNvPr id="3" name="Text Placeholder 2"/>
          <p:cNvSpPr>
            <a:spLocks noGrp="1"/>
          </p:cNvSpPr>
          <p:nvPr>
            <p:ph type="body" idx="1"/>
          </p:nvPr>
        </p:nvSpPr>
        <p:spPr>
          <a:xfrm>
            <a:off x="2589212" y="2133600"/>
            <a:ext cx="8915399" cy="4267200"/>
          </a:xfrm>
        </p:spPr>
        <p:txBody>
          <a:bodyPr>
            <a:normAutofit lnSpcReduction="10000"/>
          </a:bodyPr>
          <a:lstStyle/>
          <a:p>
            <a:pPr marL="342900" indent="-342900">
              <a:buFont typeface="Arial" panose="020B0604020202020204" pitchFamily="34" charset="0"/>
              <a:buChar char="•"/>
            </a:pPr>
            <a:r>
              <a:rPr lang="en-US" dirty="0"/>
              <a:t>Advantages of Network Operating System</a:t>
            </a:r>
            <a:r>
              <a:rPr lang="en-US" dirty="0" smtClean="0"/>
              <a:t>:</a:t>
            </a:r>
          </a:p>
          <a:p>
            <a:pPr marL="800100" lvl="1" indent="-342900">
              <a:buFont typeface="Arial" panose="020B0604020202020204" pitchFamily="34" charset="0"/>
              <a:buChar char="•"/>
            </a:pPr>
            <a:r>
              <a:rPr lang="en-IN" dirty="0"/>
              <a:t>Highly stable centralized servers</a:t>
            </a:r>
          </a:p>
          <a:p>
            <a:pPr marL="800100" lvl="1" indent="-342900">
              <a:buFont typeface="Arial" panose="020B0604020202020204" pitchFamily="34" charset="0"/>
              <a:buChar char="•"/>
            </a:pPr>
            <a:r>
              <a:rPr lang="en-US" dirty="0"/>
              <a:t>Server access are possible remotely from different locations and types of systems</a:t>
            </a:r>
          </a:p>
          <a:p>
            <a:pPr marL="800100" lvl="1" indent="-342900">
              <a:buFont typeface="Arial" panose="020B0604020202020204" pitchFamily="34" charset="0"/>
              <a:buChar char="•"/>
            </a:pPr>
            <a:r>
              <a:rPr lang="en-US" dirty="0"/>
              <a:t>New technologies and hardware up-gradation are easily integrated to the </a:t>
            </a:r>
            <a:r>
              <a:rPr lang="en-US" dirty="0" smtClean="0"/>
              <a:t>system</a:t>
            </a:r>
          </a:p>
          <a:p>
            <a:pPr marL="342900" indent="-342900">
              <a:buFont typeface="Arial" panose="020B0604020202020204" pitchFamily="34" charset="0"/>
              <a:buChar char="•"/>
            </a:pPr>
            <a:r>
              <a:rPr lang="en-US" dirty="0"/>
              <a:t>Disadvantages of Network Operating </a:t>
            </a:r>
            <a:r>
              <a:rPr lang="en-US" dirty="0" smtClean="0"/>
              <a:t>System</a:t>
            </a:r>
          </a:p>
          <a:p>
            <a:pPr marL="800100" lvl="1" indent="-342900">
              <a:buFont typeface="Arial" panose="020B0604020202020204" pitchFamily="34" charset="0"/>
              <a:buChar char="•"/>
            </a:pPr>
            <a:r>
              <a:rPr lang="en-IN" dirty="0"/>
              <a:t>Servers are costly </a:t>
            </a:r>
            <a:endParaRPr lang="en-IN" dirty="0" smtClean="0"/>
          </a:p>
          <a:p>
            <a:pPr marL="800100" lvl="1" indent="-342900">
              <a:buFont typeface="Arial" panose="020B0604020202020204" pitchFamily="34" charset="0"/>
              <a:buChar char="•"/>
            </a:pPr>
            <a:r>
              <a:rPr lang="en-US" dirty="0"/>
              <a:t>User has to depend on central location for most operations </a:t>
            </a:r>
            <a:endParaRPr lang="en-US" dirty="0" smtClean="0"/>
          </a:p>
          <a:p>
            <a:pPr marL="800100" lvl="1" indent="-342900">
              <a:buFont typeface="Arial" panose="020B0604020202020204" pitchFamily="34" charset="0"/>
              <a:buChar char="•"/>
            </a:pPr>
            <a:r>
              <a:rPr lang="en-US" dirty="0"/>
              <a:t>Maintenance and updates are required </a:t>
            </a:r>
            <a:r>
              <a:rPr lang="en-US" dirty="0" smtClean="0"/>
              <a:t>regularly</a:t>
            </a:r>
            <a:endParaRPr lang="en-US" dirty="0"/>
          </a:p>
          <a:p>
            <a:pPr lvl="1"/>
            <a:r>
              <a:rPr lang="en-US" dirty="0"/>
              <a:t>Examples of Network Operating System are</a:t>
            </a:r>
            <a:r>
              <a:rPr lang="en-US" dirty="0" smtClean="0"/>
              <a:t>:  </a:t>
            </a:r>
            <a:r>
              <a:rPr lang="en-IN" dirty="0"/>
              <a:t>Microsoft Windows Server 2003, Microsoft Windows Server 2008, UNIX, Linux, Mac OS</a:t>
            </a:r>
            <a:endParaRPr lang="en-US" dirty="0"/>
          </a:p>
        </p:txBody>
      </p:sp>
    </p:spTree>
    <p:extLst>
      <p:ext uri="{BB962C8B-B14F-4D97-AF65-F5344CB8AC3E}">
        <p14:creationId xmlns:p14="http://schemas.microsoft.com/office/powerpoint/2010/main" val="76988149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89211" y="105259"/>
            <a:ext cx="8915399" cy="1468800"/>
          </a:xfrm>
        </p:spPr>
        <p:txBody>
          <a:bodyPr/>
          <a:lstStyle/>
          <a:p>
            <a:r>
              <a:rPr lang="en-IN" dirty="0"/>
              <a:t>Real-Time Operating System</a:t>
            </a:r>
            <a:endParaRPr lang="en-IN" dirty="0"/>
          </a:p>
        </p:txBody>
      </p:sp>
      <p:sp>
        <p:nvSpPr>
          <p:cNvPr id="3" name="Text Placeholder 2"/>
          <p:cNvSpPr>
            <a:spLocks noGrp="1"/>
          </p:cNvSpPr>
          <p:nvPr>
            <p:ph type="body" idx="1"/>
          </p:nvPr>
        </p:nvSpPr>
        <p:spPr>
          <a:xfrm>
            <a:off x="2589212" y="2133600"/>
            <a:ext cx="8915399" cy="4267200"/>
          </a:xfrm>
        </p:spPr>
        <p:txBody>
          <a:bodyPr>
            <a:normAutofit/>
          </a:bodyPr>
          <a:lstStyle/>
          <a:p>
            <a:pPr marL="342900" indent="-342900">
              <a:buFont typeface="Arial" panose="020B0604020202020204" pitchFamily="34" charset="0"/>
              <a:buChar char="•"/>
            </a:pPr>
            <a:r>
              <a:rPr lang="en-US" dirty="0"/>
              <a:t>Real-time systems are used when there are time requirements are very strict like missile systems, air traffic control systems, robots etc</a:t>
            </a:r>
            <a:r>
              <a:rPr lang="en-US" dirty="0" smtClean="0"/>
              <a:t>.</a:t>
            </a:r>
          </a:p>
          <a:p>
            <a:pPr marL="342900" indent="-342900">
              <a:buFont typeface="Arial" panose="020B0604020202020204" pitchFamily="34" charset="0"/>
              <a:buChar char="•"/>
            </a:pPr>
            <a:r>
              <a:rPr lang="en-IN" dirty="0" smtClean="0"/>
              <a:t>Hard </a:t>
            </a:r>
            <a:r>
              <a:rPr lang="en-IN" dirty="0"/>
              <a:t>Real-Time Systems: </a:t>
            </a:r>
            <a:endParaRPr lang="en-IN" dirty="0" smtClean="0"/>
          </a:p>
          <a:p>
            <a:pPr marL="800100" lvl="1" indent="-342900">
              <a:buFont typeface="Arial" panose="020B0604020202020204" pitchFamily="34" charset="0"/>
              <a:buChar char="•"/>
            </a:pPr>
            <a:r>
              <a:rPr lang="en-US" dirty="0"/>
              <a:t>These OSs are meant for the applications where time constraints are very strict and even the shortest possible delay is not acceptable. </a:t>
            </a:r>
            <a:endParaRPr lang="en-IN" dirty="0" smtClean="0"/>
          </a:p>
          <a:p>
            <a:pPr marL="342900" indent="-342900">
              <a:buFont typeface="Arial" panose="020B0604020202020204" pitchFamily="34" charset="0"/>
              <a:buChar char="•"/>
            </a:pPr>
            <a:r>
              <a:rPr lang="en-IN" dirty="0"/>
              <a:t>Soft Real-Time Systems</a:t>
            </a:r>
            <a:r>
              <a:rPr lang="en-IN" dirty="0" smtClean="0"/>
              <a:t>:</a:t>
            </a:r>
          </a:p>
          <a:p>
            <a:pPr marL="800100" lvl="1" indent="-342900">
              <a:buFont typeface="Arial" panose="020B0604020202020204" pitchFamily="34" charset="0"/>
              <a:buChar char="•"/>
            </a:pPr>
            <a:r>
              <a:rPr lang="en-US" dirty="0"/>
              <a:t>These OSs are for applications where for time-constraint is less strict</a:t>
            </a:r>
            <a:r>
              <a:rPr lang="en-US" dirty="0" smtClean="0"/>
              <a:t>.</a:t>
            </a:r>
            <a:endParaRPr lang="en-IN" dirty="0" smtClean="0"/>
          </a:p>
        </p:txBody>
      </p:sp>
    </p:spTree>
    <p:extLst>
      <p:ext uri="{BB962C8B-B14F-4D97-AF65-F5344CB8AC3E}">
        <p14:creationId xmlns:p14="http://schemas.microsoft.com/office/powerpoint/2010/main" val="89572776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89211" y="105259"/>
            <a:ext cx="8915399" cy="1468800"/>
          </a:xfrm>
        </p:spPr>
        <p:txBody>
          <a:bodyPr/>
          <a:lstStyle/>
          <a:p>
            <a:r>
              <a:rPr lang="en-IN" dirty="0"/>
              <a:t>Real-Time Operating System</a:t>
            </a:r>
            <a:endParaRPr lang="en-IN" dirty="0"/>
          </a:p>
        </p:txBody>
      </p:sp>
      <p:sp>
        <p:nvSpPr>
          <p:cNvPr id="3" name="Text Placeholder 2"/>
          <p:cNvSpPr>
            <a:spLocks noGrp="1"/>
          </p:cNvSpPr>
          <p:nvPr>
            <p:ph type="body" idx="1"/>
          </p:nvPr>
        </p:nvSpPr>
        <p:spPr>
          <a:xfrm>
            <a:off x="2589212" y="2133600"/>
            <a:ext cx="8915399" cy="4267200"/>
          </a:xfrm>
        </p:spPr>
        <p:txBody>
          <a:bodyPr>
            <a:normAutofit/>
          </a:bodyPr>
          <a:lstStyle/>
          <a:p>
            <a:pPr marL="342900" indent="-342900">
              <a:buFont typeface="Arial" panose="020B0604020202020204" pitchFamily="34" charset="0"/>
              <a:buChar char="•"/>
            </a:pPr>
            <a:r>
              <a:rPr lang="en-IN" dirty="0"/>
              <a:t>Advantages of RTOS</a:t>
            </a:r>
            <a:r>
              <a:rPr lang="en-IN" dirty="0" smtClean="0"/>
              <a:t>:</a:t>
            </a:r>
          </a:p>
          <a:p>
            <a:pPr marL="800100" lvl="1" indent="-342900">
              <a:buFont typeface="Arial" panose="020B0604020202020204" pitchFamily="34" charset="0"/>
              <a:buChar char="•"/>
            </a:pPr>
            <a:r>
              <a:rPr lang="en-IN" dirty="0"/>
              <a:t>Maximum Consumption</a:t>
            </a:r>
          </a:p>
          <a:p>
            <a:pPr marL="800100" lvl="1" indent="-342900">
              <a:buFont typeface="Arial" panose="020B0604020202020204" pitchFamily="34" charset="0"/>
              <a:buChar char="•"/>
            </a:pPr>
            <a:r>
              <a:rPr lang="en-IN" dirty="0"/>
              <a:t>Task Shifting</a:t>
            </a:r>
          </a:p>
          <a:p>
            <a:pPr marL="800100" lvl="1" indent="-342900">
              <a:buFont typeface="Arial" panose="020B0604020202020204" pitchFamily="34" charset="0"/>
              <a:buChar char="•"/>
            </a:pPr>
            <a:r>
              <a:rPr lang="en-IN" dirty="0"/>
              <a:t>Memory </a:t>
            </a:r>
            <a:r>
              <a:rPr lang="en-IN" dirty="0" smtClean="0"/>
              <a:t>Allocation</a:t>
            </a:r>
          </a:p>
          <a:p>
            <a:pPr marL="342900" indent="-342900">
              <a:buFont typeface="Arial" panose="020B0604020202020204" pitchFamily="34" charset="0"/>
              <a:buChar char="•"/>
            </a:pPr>
            <a:r>
              <a:rPr lang="en-IN" dirty="0"/>
              <a:t>Disadvantages of </a:t>
            </a:r>
            <a:r>
              <a:rPr lang="en-IN" dirty="0" smtClean="0"/>
              <a:t>RTOS</a:t>
            </a:r>
          </a:p>
          <a:p>
            <a:pPr marL="800100" lvl="1" indent="-342900">
              <a:buFont typeface="Arial" panose="020B0604020202020204" pitchFamily="34" charset="0"/>
              <a:buChar char="•"/>
            </a:pPr>
            <a:r>
              <a:rPr lang="en-IN" dirty="0"/>
              <a:t>Limited </a:t>
            </a:r>
            <a:r>
              <a:rPr lang="en-IN" dirty="0" smtClean="0"/>
              <a:t>Tasks</a:t>
            </a:r>
          </a:p>
          <a:p>
            <a:pPr marL="800100" lvl="1" indent="-342900">
              <a:buFont typeface="Arial" panose="020B0604020202020204" pitchFamily="34" charset="0"/>
              <a:buChar char="•"/>
            </a:pPr>
            <a:r>
              <a:rPr lang="en-IN" dirty="0"/>
              <a:t>Complex </a:t>
            </a:r>
            <a:r>
              <a:rPr lang="en-IN" dirty="0" smtClean="0"/>
              <a:t>Algorithms</a:t>
            </a:r>
          </a:p>
          <a:p>
            <a:pPr marL="800100" lvl="1" indent="-342900">
              <a:buFont typeface="Arial" panose="020B0604020202020204" pitchFamily="34" charset="0"/>
              <a:buChar char="•"/>
            </a:pPr>
            <a:r>
              <a:rPr lang="en-IN" dirty="0"/>
              <a:t>Use heavy system </a:t>
            </a:r>
            <a:r>
              <a:rPr lang="en-IN" dirty="0" smtClean="0"/>
              <a:t>resources</a:t>
            </a:r>
            <a:endParaRPr lang="en-IN" dirty="0"/>
          </a:p>
          <a:p>
            <a:pPr lvl="1"/>
            <a:r>
              <a:rPr lang="en-US" dirty="0"/>
              <a:t>Examples of Real-Time Operating Systems are :- weapon systems, robots, air traffic control systems</a:t>
            </a:r>
            <a:endParaRPr lang="en-IN" dirty="0" smtClean="0"/>
          </a:p>
        </p:txBody>
      </p:sp>
    </p:spTree>
    <p:extLst>
      <p:ext uri="{BB962C8B-B14F-4D97-AF65-F5344CB8AC3E}">
        <p14:creationId xmlns:p14="http://schemas.microsoft.com/office/powerpoint/2010/main" val="209172575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89211" y="105259"/>
            <a:ext cx="8915399" cy="1468800"/>
          </a:xfrm>
        </p:spPr>
        <p:txBody>
          <a:bodyPr/>
          <a:lstStyle/>
          <a:p>
            <a:r>
              <a:rPr lang="en-IN" dirty="0"/>
              <a:t>Modes of Operating System</a:t>
            </a:r>
            <a:endParaRPr lang="en-IN" dirty="0"/>
          </a:p>
        </p:txBody>
      </p:sp>
      <p:sp>
        <p:nvSpPr>
          <p:cNvPr id="3" name="Text Placeholder 2"/>
          <p:cNvSpPr>
            <a:spLocks noGrp="1"/>
          </p:cNvSpPr>
          <p:nvPr>
            <p:ph type="body" idx="1"/>
          </p:nvPr>
        </p:nvSpPr>
        <p:spPr>
          <a:xfrm>
            <a:off x="2589212" y="2133600"/>
            <a:ext cx="8915399" cy="4267200"/>
          </a:xfrm>
        </p:spPr>
        <p:txBody>
          <a:bodyPr>
            <a:normAutofit/>
          </a:bodyPr>
          <a:lstStyle/>
          <a:p>
            <a:pPr marL="342900" indent="-342900">
              <a:buFont typeface="Arial" panose="020B0604020202020204" pitchFamily="34" charset="0"/>
              <a:buChar char="•"/>
            </a:pPr>
            <a:r>
              <a:rPr lang="en-US" dirty="0"/>
              <a:t>Operating System Works in two modes: </a:t>
            </a:r>
            <a:endParaRPr lang="en-US" dirty="0" smtClean="0"/>
          </a:p>
          <a:p>
            <a:pPr marL="800100" lvl="1" indent="-342900">
              <a:buFont typeface="Arial" panose="020B0604020202020204" pitchFamily="34" charset="0"/>
              <a:buChar char="•"/>
            </a:pPr>
            <a:r>
              <a:rPr lang="en-IN" dirty="0"/>
              <a:t>User Mode</a:t>
            </a:r>
            <a:r>
              <a:rPr lang="en-IN" dirty="0" smtClean="0"/>
              <a:t>:</a:t>
            </a:r>
          </a:p>
          <a:p>
            <a:pPr marL="1257300" lvl="2" indent="-342900">
              <a:buFont typeface="Arial" panose="020B0604020202020204" pitchFamily="34" charset="0"/>
              <a:buChar char="•"/>
            </a:pPr>
            <a:r>
              <a:rPr lang="en-IN" dirty="0"/>
              <a:t>Applications run in user mode. </a:t>
            </a:r>
            <a:endParaRPr lang="en-IN" dirty="0" smtClean="0"/>
          </a:p>
          <a:p>
            <a:pPr marL="1257300" lvl="2" indent="-342900">
              <a:buFont typeface="Arial" panose="020B0604020202020204" pitchFamily="34" charset="0"/>
              <a:buChar char="•"/>
            </a:pPr>
            <a:r>
              <a:rPr lang="en-US" dirty="0"/>
              <a:t>In User mode, the executing code has no ability to directly access hardware or reference memory. </a:t>
            </a:r>
            <a:endParaRPr lang="en-IN" dirty="0" smtClean="0"/>
          </a:p>
          <a:p>
            <a:pPr marL="800100" lvl="1" indent="-342900">
              <a:buFont typeface="Arial" panose="020B0604020202020204" pitchFamily="34" charset="0"/>
              <a:buChar char="•"/>
            </a:pPr>
            <a:r>
              <a:rPr lang="en-IN" dirty="0"/>
              <a:t>Kernel Mode: </a:t>
            </a:r>
            <a:endParaRPr lang="en-IN" dirty="0" smtClean="0"/>
          </a:p>
          <a:p>
            <a:pPr marL="1257300" lvl="2" indent="-342900">
              <a:buFont typeface="Arial" panose="020B0604020202020204" pitchFamily="34" charset="0"/>
              <a:buChar char="•"/>
            </a:pPr>
            <a:r>
              <a:rPr lang="en-US" dirty="0"/>
              <a:t>core operating system components run in kernel mode</a:t>
            </a:r>
            <a:r>
              <a:rPr lang="en-US" dirty="0" smtClean="0"/>
              <a:t>.</a:t>
            </a:r>
          </a:p>
          <a:p>
            <a:pPr marL="1257300" lvl="2" indent="-342900">
              <a:buFont typeface="Arial" panose="020B0604020202020204" pitchFamily="34" charset="0"/>
              <a:buChar char="•"/>
            </a:pPr>
            <a:r>
              <a:rPr lang="en-US" dirty="0"/>
              <a:t>Kernel mode is generally reserved for the lowest-level, most trusted functions of the operating system </a:t>
            </a:r>
            <a:endParaRPr lang="en-IN" dirty="0" smtClean="0"/>
          </a:p>
        </p:txBody>
      </p:sp>
    </p:spTree>
    <p:extLst>
      <p:ext uri="{BB962C8B-B14F-4D97-AF65-F5344CB8AC3E}">
        <p14:creationId xmlns:p14="http://schemas.microsoft.com/office/powerpoint/2010/main" val="404928103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1929" y="1011382"/>
            <a:ext cx="3144980" cy="983672"/>
          </a:xfrm>
        </p:spPr>
        <p:txBody>
          <a:bodyPr/>
          <a:lstStyle/>
          <a:p>
            <a:r>
              <a:rPr lang="en-IN" dirty="0"/>
              <a:t>OS Services</a:t>
            </a:r>
          </a:p>
        </p:txBody>
      </p:sp>
      <p:pic>
        <p:nvPicPr>
          <p:cNvPr id="5" name="Content Placeholder 4"/>
          <p:cNvPicPr>
            <a:picLocks noGrp="1" noChangeAspect="1"/>
          </p:cNvPicPr>
          <p:nvPr>
            <p:ph idx="1"/>
          </p:nvPr>
        </p:nvPicPr>
        <p:blipFill>
          <a:blip r:embed="rId2"/>
          <a:stretch>
            <a:fillRect/>
          </a:stretch>
        </p:blipFill>
        <p:spPr>
          <a:xfrm>
            <a:off x="5056908" y="1011382"/>
            <a:ext cx="6982691" cy="5043054"/>
          </a:xfrm>
          <a:prstGeom prst="rect">
            <a:avLst/>
          </a:prstGeom>
        </p:spPr>
      </p:pic>
      <p:sp>
        <p:nvSpPr>
          <p:cNvPr id="4" name="Text Placeholder 3"/>
          <p:cNvSpPr>
            <a:spLocks noGrp="1"/>
          </p:cNvSpPr>
          <p:nvPr>
            <p:ph type="body" sz="half" idx="2"/>
          </p:nvPr>
        </p:nvSpPr>
        <p:spPr>
          <a:xfrm>
            <a:off x="1911928" y="2479963"/>
            <a:ext cx="2951018" cy="3381085"/>
          </a:xfrm>
        </p:spPr>
        <p:txBody>
          <a:bodyPr>
            <a:normAutofit/>
          </a:bodyPr>
          <a:lstStyle/>
          <a:p>
            <a:pPr marL="285750" indent="-285750">
              <a:buFont typeface="Arial" panose="020B0604020202020204" pitchFamily="34" charset="0"/>
              <a:buChar char="•"/>
            </a:pPr>
            <a:r>
              <a:rPr lang="en-IN" sz="1600" dirty="0"/>
              <a:t>Program execution </a:t>
            </a:r>
            <a:endParaRPr lang="en-IN" sz="1600" dirty="0" smtClean="0"/>
          </a:p>
          <a:p>
            <a:pPr marL="285750" indent="-285750">
              <a:buFont typeface="Arial" panose="020B0604020202020204" pitchFamily="34" charset="0"/>
              <a:buChar char="•"/>
            </a:pPr>
            <a:r>
              <a:rPr lang="en-IN" sz="1600" dirty="0"/>
              <a:t>I/O operations </a:t>
            </a:r>
            <a:endParaRPr lang="en-IN" sz="1600" dirty="0" smtClean="0"/>
          </a:p>
          <a:p>
            <a:pPr marL="285750" indent="-285750">
              <a:buFont typeface="Arial" panose="020B0604020202020204" pitchFamily="34" charset="0"/>
              <a:buChar char="•"/>
            </a:pPr>
            <a:r>
              <a:rPr lang="en-IN" sz="1600" dirty="0"/>
              <a:t>File System manipulation </a:t>
            </a:r>
            <a:endParaRPr lang="en-IN" sz="1600" dirty="0" smtClean="0"/>
          </a:p>
          <a:p>
            <a:pPr marL="285750" indent="-285750">
              <a:buFont typeface="Arial" panose="020B0604020202020204" pitchFamily="34" charset="0"/>
              <a:buChar char="•"/>
            </a:pPr>
            <a:r>
              <a:rPr lang="en-IN" sz="1600" dirty="0" smtClean="0"/>
              <a:t>Communication</a:t>
            </a:r>
          </a:p>
          <a:p>
            <a:pPr marL="285750" indent="-285750">
              <a:buFont typeface="Arial" panose="020B0604020202020204" pitchFamily="34" charset="0"/>
              <a:buChar char="•"/>
            </a:pPr>
            <a:r>
              <a:rPr lang="en-IN" sz="1600" dirty="0"/>
              <a:t>Error Detection </a:t>
            </a:r>
            <a:endParaRPr lang="en-IN" sz="1600" dirty="0" smtClean="0"/>
          </a:p>
          <a:p>
            <a:pPr marL="285750" indent="-285750">
              <a:buFont typeface="Arial" panose="020B0604020202020204" pitchFamily="34" charset="0"/>
              <a:buChar char="•"/>
            </a:pPr>
            <a:r>
              <a:rPr lang="en-IN" sz="1600" dirty="0"/>
              <a:t>Resource </a:t>
            </a:r>
            <a:r>
              <a:rPr lang="en-IN" sz="1600" dirty="0" smtClean="0"/>
              <a:t>Allocation</a:t>
            </a:r>
          </a:p>
          <a:p>
            <a:pPr marL="285750" indent="-285750">
              <a:buFont typeface="Arial" panose="020B0604020202020204" pitchFamily="34" charset="0"/>
              <a:buChar char="•"/>
            </a:pPr>
            <a:r>
              <a:rPr lang="en-IN" sz="1600" dirty="0"/>
              <a:t>Protection </a:t>
            </a:r>
            <a:endParaRPr lang="en-IN" sz="1600" dirty="0" smtClean="0"/>
          </a:p>
          <a:p>
            <a:pPr marL="285750" indent="-285750">
              <a:buFont typeface="Arial" panose="020B0604020202020204" pitchFamily="34" charset="0"/>
              <a:buChar char="•"/>
            </a:pPr>
            <a:r>
              <a:rPr lang="en-IN" sz="1600" dirty="0" smtClean="0"/>
              <a:t>Accounting </a:t>
            </a:r>
            <a:endParaRPr lang="en-IN" sz="1600" dirty="0"/>
          </a:p>
        </p:txBody>
      </p:sp>
    </p:spTree>
    <p:extLst>
      <p:ext uri="{BB962C8B-B14F-4D97-AF65-F5344CB8AC3E}">
        <p14:creationId xmlns:p14="http://schemas.microsoft.com/office/powerpoint/2010/main" val="313858452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89211" y="160677"/>
            <a:ext cx="8915399" cy="1468800"/>
          </a:xfrm>
        </p:spPr>
        <p:txBody>
          <a:bodyPr/>
          <a:lstStyle/>
          <a:p>
            <a:r>
              <a:rPr lang="en-US" dirty="0"/>
              <a:t>OS services that are helpful to the user</a:t>
            </a:r>
            <a:endParaRPr lang="en-IN" dirty="0"/>
          </a:p>
        </p:txBody>
      </p:sp>
      <p:sp>
        <p:nvSpPr>
          <p:cNvPr id="3" name="Text Placeholder 2"/>
          <p:cNvSpPr>
            <a:spLocks noGrp="1"/>
          </p:cNvSpPr>
          <p:nvPr>
            <p:ph type="body" idx="1"/>
          </p:nvPr>
        </p:nvSpPr>
        <p:spPr>
          <a:xfrm>
            <a:off x="2589212" y="2105892"/>
            <a:ext cx="8915399" cy="4405744"/>
          </a:xfrm>
        </p:spPr>
        <p:txBody>
          <a:bodyPr>
            <a:normAutofit fontScale="92500" lnSpcReduction="20000"/>
          </a:bodyPr>
          <a:lstStyle/>
          <a:p>
            <a:pPr marL="742950" lvl="1" indent="-285750">
              <a:buFont typeface="Arial" panose="020B0604020202020204" pitchFamily="34" charset="0"/>
              <a:buChar char="•"/>
            </a:pPr>
            <a:r>
              <a:rPr lang="en-US" sz="2400" dirty="0">
                <a:solidFill>
                  <a:schemeClr val="tx1">
                    <a:lumMod val="85000"/>
                    <a:lumOff val="15000"/>
                  </a:schemeClr>
                </a:solidFill>
                <a:latin typeface="+mj-lt"/>
                <a:ea typeface="+mj-ea"/>
                <a:cs typeface="+mj-cs"/>
              </a:rPr>
              <a:t>User Interface :- Almost all operating systems have a user interface (UI) because otherwise there is no chance to talk to the system.</a:t>
            </a:r>
          </a:p>
          <a:p>
            <a:pPr marL="742950" lvl="1" indent="-285750">
              <a:buFont typeface="Arial" panose="020B0604020202020204" pitchFamily="34" charset="0"/>
              <a:buChar char="•"/>
            </a:pPr>
            <a:r>
              <a:rPr lang="en-US" sz="2400" dirty="0">
                <a:solidFill>
                  <a:schemeClr val="tx1">
                    <a:lumMod val="85000"/>
                    <a:lumOff val="15000"/>
                  </a:schemeClr>
                </a:solidFill>
                <a:latin typeface="+mj-lt"/>
                <a:ea typeface="+mj-ea"/>
                <a:cs typeface="+mj-cs"/>
              </a:rPr>
              <a:t>Difference Types of user interface</a:t>
            </a:r>
          </a:p>
          <a:p>
            <a:pPr marL="1200150" lvl="2" indent="-285750">
              <a:buFont typeface="Arial" panose="020B0604020202020204" pitchFamily="34" charset="0"/>
              <a:buChar char="•"/>
            </a:pPr>
            <a:r>
              <a:rPr lang="en-US" sz="2400" dirty="0">
                <a:solidFill>
                  <a:schemeClr val="tx1">
                    <a:lumMod val="85000"/>
                    <a:lumOff val="15000"/>
                  </a:schemeClr>
                </a:solidFill>
                <a:latin typeface="+mj-lt"/>
                <a:ea typeface="+mj-ea"/>
                <a:cs typeface="+mj-cs"/>
              </a:rPr>
              <a:t>Command Line (CLI) :- uses text commands and method for entering them through keyboard for typing command. </a:t>
            </a:r>
          </a:p>
          <a:p>
            <a:pPr marL="1200150" lvl="2" indent="-285750">
              <a:buFont typeface="Arial" panose="020B0604020202020204" pitchFamily="34" charset="0"/>
              <a:buChar char="•"/>
            </a:pPr>
            <a:r>
              <a:rPr lang="en-US" sz="2400" dirty="0">
                <a:solidFill>
                  <a:schemeClr val="tx1">
                    <a:lumMod val="85000"/>
                    <a:lumOff val="15000"/>
                  </a:schemeClr>
                </a:solidFill>
                <a:latin typeface="+mj-lt"/>
                <a:ea typeface="+mj-ea"/>
                <a:cs typeface="+mj-cs"/>
              </a:rPr>
              <a:t>Graphics User Interface (GUI) :-  interface is a windows system with a pointing device to direct I/O, choose from menus, and make selections and a keyboard to enter text.</a:t>
            </a:r>
          </a:p>
          <a:p>
            <a:pPr marL="1200150" lvl="2" indent="-285750">
              <a:buFont typeface="Arial" panose="020B0604020202020204" pitchFamily="34" charset="0"/>
              <a:buChar char="•"/>
            </a:pPr>
            <a:r>
              <a:rPr lang="en-US" sz="2400" dirty="0">
                <a:solidFill>
                  <a:schemeClr val="tx1">
                    <a:lumMod val="85000"/>
                    <a:lumOff val="15000"/>
                  </a:schemeClr>
                </a:solidFill>
                <a:latin typeface="+mj-lt"/>
                <a:ea typeface="+mj-ea"/>
                <a:cs typeface="+mj-cs"/>
              </a:rPr>
              <a:t>Batch Interface:- commands and directives to control those commands are entered into 2 files and t</a:t>
            </a:r>
            <a:r>
              <a:rPr lang="en-IN" sz="2400" dirty="0">
                <a:solidFill>
                  <a:schemeClr val="tx1">
                    <a:lumMod val="85000"/>
                    <a:lumOff val="15000"/>
                  </a:schemeClr>
                </a:solidFill>
                <a:latin typeface="+mj-lt"/>
                <a:ea typeface="+mj-ea"/>
                <a:cs typeface="+mj-cs"/>
              </a:rPr>
              <a:t>hose files are executed.</a:t>
            </a:r>
          </a:p>
          <a:p>
            <a:pPr marL="342900" indent="-342900">
              <a:buFont typeface="Arial" panose="020B0604020202020204" pitchFamily="34" charset="0"/>
              <a:buChar char="•"/>
            </a:pPr>
            <a:endParaRPr lang="en-US" dirty="0" smtClean="0"/>
          </a:p>
        </p:txBody>
      </p:sp>
    </p:spTree>
    <p:extLst>
      <p:ext uri="{BB962C8B-B14F-4D97-AF65-F5344CB8AC3E}">
        <p14:creationId xmlns:p14="http://schemas.microsoft.com/office/powerpoint/2010/main" val="147630104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89211" y="160677"/>
            <a:ext cx="8915399" cy="1468800"/>
          </a:xfrm>
        </p:spPr>
        <p:txBody>
          <a:bodyPr/>
          <a:lstStyle/>
          <a:p>
            <a:r>
              <a:rPr lang="en-US" dirty="0"/>
              <a:t>OS services that are helpful to the user</a:t>
            </a:r>
            <a:endParaRPr lang="en-IN" dirty="0"/>
          </a:p>
        </p:txBody>
      </p:sp>
      <p:sp>
        <p:nvSpPr>
          <p:cNvPr id="3" name="Text Placeholder 2"/>
          <p:cNvSpPr>
            <a:spLocks noGrp="1"/>
          </p:cNvSpPr>
          <p:nvPr>
            <p:ph type="body" idx="1"/>
          </p:nvPr>
        </p:nvSpPr>
        <p:spPr>
          <a:xfrm>
            <a:off x="2589212" y="2105892"/>
            <a:ext cx="8915399" cy="4405744"/>
          </a:xfrm>
        </p:spPr>
        <p:txBody>
          <a:bodyPr>
            <a:noAutofit/>
          </a:bodyPr>
          <a:lstStyle/>
          <a:p>
            <a:pPr marL="742950" lvl="1" indent="-285750">
              <a:buFont typeface="Arial" panose="020B0604020202020204" pitchFamily="34" charset="0"/>
              <a:buChar char="•"/>
            </a:pPr>
            <a:r>
              <a:rPr lang="en-US" sz="2200" dirty="0">
                <a:solidFill>
                  <a:schemeClr val="tx1">
                    <a:lumMod val="85000"/>
                    <a:lumOff val="15000"/>
                  </a:schemeClr>
                </a:solidFill>
                <a:latin typeface="+mj-lt"/>
                <a:ea typeface="+mj-ea"/>
                <a:cs typeface="+mj-cs"/>
              </a:rPr>
              <a:t>Program Execution :- The system must be able to load a program into memory, and to run that program end execution either normally or abnormally indicating errors.</a:t>
            </a:r>
          </a:p>
          <a:p>
            <a:pPr marL="742950" lvl="1" indent="-285750">
              <a:buFont typeface="Arial" panose="020B0604020202020204" pitchFamily="34" charset="0"/>
              <a:buChar char="•"/>
            </a:pPr>
            <a:r>
              <a:rPr lang="en-US" sz="2200" dirty="0" smtClean="0">
                <a:solidFill>
                  <a:schemeClr val="tx1">
                    <a:lumMod val="85000"/>
                    <a:lumOff val="15000"/>
                  </a:schemeClr>
                </a:solidFill>
                <a:latin typeface="+mj-lt"/>
                <a:ea typeface="+mj-ea"/>
                <a:cs typeface="+mj-cs"/>
              </a:rPr>
              <a:t>I/O operations :- A running program may required I/O which may involved a file or an I/O device.</a:t>
            </a:r>
          </a:p>
          <a:p>
            <a:pPr marL="742950" lvl="1" indent="-285750">
              <a:buFont typeface="Arial" panose="020B0604020202020204" pitchFamily="34" charset="0"/>
              <a:buChar char="•"/>
            </a:pPr>
            <a:r>
              <a:rPr lang="en-US" sz="2200" dirty="0" smtClean="0">
                <a:solidFill>
                  <a:schemeClr val="tx1">
                    <a:lumMod val="85000"/>
                    <a:lumOff val="15000"/>
                  </a:schemeClr>
                </a:solidFill>
                <a:latin typeface="+mj-lt"/>
                <a:ea typeface="+mj-ea"/>
                <a:cs typeface="+mj-cs"/>
              </a:rPr>
              <a:t>File System Manipulation :- Programs need to read and write files and directories, create and delete them, search them, list files information, permission management.</a:t>
            </a:r>
          </a:p>
          <a:p>
            <a:endParaRPr lang="en-US" sz="2200" dirty="0">
              <a:solidFill>
                <a:schemeClr val="tx1">
                  <a:lumMod val="85000"/>
                  <a:lumOff val="15000"/>
                </a:schemeClr>
              </a:solidFill>
              <a:latin typeface="+mj-lt"/>
              <a:ea typeface="+mj-ea"/>
              <a:cs typeface="+mj-cs"/>
            </a:endParaRPr>
          </a:p>
        </p:txBody>
      </p:sp>
    </p:spTree>
    <p:extLst>
      <p:ext uri="{BB962C8B-B14F-4D97-AF65-F5344CB8AC3E}">
        <p14:creationId xmlns:p14="http://schemas.microsoft.com/office/powerpoint/2010/main" val="67472606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89211" y="160677"/>
            <a:ext cx="8915399" cy="1468800"/>
          </a:xfrm>
        </p:spPr>
        <p:txBody>
          <a:bodyPr/>
          <a:lstStyle/>
          <a:p>
            <a:r>
              <a:rPr lang="en-US" dirty="0"/>
              <a:t>OS services that are helpful to the user</a:t>
            </a:r>
            <a:endParaRPr lang="en-IN" dirty="0"/>
          </a:p>
        </p:txBody>
      </p:sp>
      <p:sp>
        <p:nvSpPr>
          <p:cNvPr id="3" name="Text Placeholder 2"/>
          <p:cNvSpPr>
            <a:spLocks noGrp="1"/>
          </p:cNvSpPr>
          <p:nvPr>
            <p:ph type="body" idx="1"/>
          </p:nvPr>
        </p:nvSpPr>
        <p:spPr>
          <a:xfrm>
            <a:off x="2589212" y="2105892"/>
            <a:ext cx="8915399" cy="4405744"/>
          </a:xfrm>
        </p:spPr>
        <p:txBody>
          <a:bodyPr>
            <a:noAutofit/>
          </a:bodyPr>
          <a:lstStyle/>
          <a:p>
            <a:pPr marL="742950" lvl="1" indent="-285750">
              <a:buFont typeface="Arial" panose="020B0604020202020204" pitchFamily="34" charset="0"/>
              <a:buChar char="•"/>
            </a:pPr>
            <a:r>
              <a:rPr lang="en-US" sz="2200" dirty="0" smtClean="0">
                <a:solidFill>
                  <a:schemeClr val="tx1">
                    <a:lumMod val="85000"/>
                    <a:lumOff val="15000"/>
                  </a:schemeClr>
                </a:solidFill>
                <a:latin typeface="+mj-lt"/>
                <a:ea typeface="+mj-ea"/>
                <a:cs typeface="+mj-cs"/>
              </a:rPr>
              <a:t>Communications:- Processes may exchange information on same computer or between computer over a network. </a:t>
            </a:r>
          </a:p>
          <a:p>
            <a:pPr marL="1200150" lvl="2" indent="-285750">
              <a:buFont typeface="Arial" panose="020B0604020202020204" pitchFamily="34" charset="0"/>
              <a:buChar char="•"/>
            </a:pPr>
            <a:r>
              <a:rPr lang="en-US" sz="2000" dirty="0" smtClean="0">
                <a:solidFill>
                  <a:schemeClr val="tx1">
                    <a:lumMod val="85000"/>
                    <a:lumOff val="15000"/>
                  </a:schemeClr>
                </a:solidFill>
                <a:latin typeface="+mj-lt"/>
                <a:ea typeface="+mj-ea"/>
                <a:cs typeface="+mj-cs"/>
              </a:rPr>
              <a:t>Communications may be via shared memory or through message passing.</a:t>
            </a:r>
          </a:p>
          <a:p>
            <a:pPr marL="742950" lvl="1" indent="-285750">
              <a:buFont typeface="Arial" panose="020B0604020202020204" pitchFamily="34" charset="0"/>
              <a:buChar char="•"/>
            </a:pPr>
            <a:r>
              <a:rPr lang="en-US" sz="2200" dirty="0">
                <a:solidFill>
                  <a:schemeClr val="tx1">
                    <a:lumMod val="85000"/>
                    <a:lumOff val="15000"/>
                  </a:schemeClr>
                </a:solidFill>
                <a:latin typeface="+mj-lt"/>
                <a:ea typeface="+mj-ea"/>
                <a:cs typeface="+mj-cs"/>
              </a:rPr>
              <a:t>Error detection:- OS needs to be </a:t>
            </a:r>
            <a:r>
              <a:rPr lang="en-US" sz="2200" dirty="0" smtClean="0">
                <a:solidFill>
                  <a:schemeClr val="tx1">
                    <a:lumMod val="85000"/>
                    <a:lumOff val="15000"/>
                  </a:schemeClr>
                </a:solidFill>
                <a:latin typeface="+mj-lt"/>
                <a:ea typeface="+mj-ea"/>
                <a:cs typeface="+mj-cs"/>
              </a:rPr>
              <a:t>constantly aware </a:t>
            </a:r>
            <a:r>
              <a:rPr lang="en-US" sz="2200" dirty="0">
                <a:solidFill>
                  <a:schemeClr val="tx1">
                    <a:lumMod val="85000"/>
                    <a:lumOff val="15000"/>
                  </a:schemeClr>
                </a:solidFill>
                <a:latin typeface="+mj-lt"/>
                <a:ea typeface="+mj-ea"/>
                <a:cs typeface="+mj-cs"/>
              </a:rPr>
              <a:t>of possible </a:t>
            </a:r>
            <a:r>
              <a:rPr lang="en-US" sz="2200" dirty="0" smtClean="0">
                <a:solidFill>
                  <a:schemeClr val="tx1">
                    <a:lumMod val="85000"/>
                    <a:lumOff val="15000"/>
                  </a:schemeClr>
                </a:solidFill>
                <a:latin typeface="+mj-lt"/>
                <a:ea typeface="+mj-ea"/>
                <a:cs typeface="+mj-cs"/>
              </a:rPr>
              <a:t>error. </a:t>
            </a:r>
          </a:p>
          <a:p>
            <a:pPr marL="1200150" lvl="2" indent="-285750">
              <a:buFont typeface="Arial" panose="020B0604020202020204" pitchFamily="34" charset="0"/>
              <a:buChar char="•"/>
            </a:pPr>
            <a:r>
              <a:rPr lang="en-US" sz="2000" dirty="0" smtClean="0">
                <a:solidFill>
                  <a:schemeClr val="tx1">
                    <a:lumMod val="85000"/>
                    <a:lumOff val="15000"/>
                  </a:schemeClr>
                </a:solidFill>
                <a:latin typeface="+mj-lt"/>
                <a:ea typeface="+mj-ea"/>
                <a:cs typeface="+mj-cs"/>
              </a:rPr>
              <a:t>May occur in the CPU and memory hardware, in I/O devices , in user program.</a:t>
            </a:r>
          </a:p>
          <a:p>
            <a:pPr marL="1200150" lvl="2" indent="-285750">
              <a:buFont typeface="Arial" panose="020B0604020202020204" pitchFamily="34" charset="0"/>
              <a:buChar char="•"/>
            </a:pPr>
            <a:r>
              <a:rPr lang="en-US" sz="2000" dirty="0" smtClean="0">
                <a:solidFill>
                  <a:schemeClr val="tx1">
                    <a:lumMod val="85000"/>
                    <a:lumOff val="15000"/>
                  </a:schemeClr>
                </a:solidFill>
                <a:latin typeface="+mj-lt"/>
                <a:ea typeface="+mj-ea"/>
                <a:cs typeface="+mj-cs"/>
              </a:rPr>
              <a:t>For each type of error, OS should take the appropriate action to ensure correct and consistent computing.</a:t>
            </a:r>
          </a:p>
          <a:p>
            <a:endParaRPr lang="en-US" sz="2200" dirty="0">
              <a:solidFill>
                <a:schemeClr val="tx1">
                  <a:lumMod val="85000"/>
                  <a:lumOff val="15000"/>
                </a:schemeClr>
              </a:solidFill>
              <a:latin typeface="+mj-lt"/>
              <a:ea typeface="+mj-ea"/>
              <a:cs typeface="+mj-cs"/>
            </a:endParaRPr>
          </a:p>
        </p:txBody>
      </p:sp>
    </p:spTree>
    <p:extLst>
      <p:ext uri="{BB962C8B-B14F-4D97-AF65-F5344CB8AC3E}">
        <p14:creationId xmlns:p14="http://schemas.microsoft.com/office/powerpoint/2010/main" val="411120314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89211" y="160677"/>
            <a:ext cx="8915399" cy="1468800"/>
          </a:xfrm>
        </p:spPr>
        <p:txBody>
          <a:bodyPr/>
          <a:lstStyle/>
          <a:p>
            <a:r>
              <a:rPr lang="en-US" dirty="0"/>
              <a:t>OS services that are helpful to the user</a:t>
            </a:r>
            <a:endParaRPr lang="en-IN" dirty="0"/>
          </a:p>
        </p:txBody>
      </p:sp>
      <p:sp>
        <p:nvSpPr>
          <p:cNvPr id="3" name="Text Placeholder 2"/>
          <p:cNvSpPr>
            <a:spLocks noGrp="1"/>
          </p:cNvSpPr>
          <p:nvPr>
            <p:ph type="body" idx="1"/>
          </p:nvPr>
        </p:nvSpPr>
        <p:spPr>
          <a:xfrm>
            <a:off x="2589212" y="2105892"/>
            <a:ext cx="8915399" cy="4405744"/>
          </a:xfrm>
        </p:spPr>
        <p:txBody>
          <a:bodyPr>
            <a:noAutofit/>
          </a:bodyPr>
          <a:lstStyle/>
          <a:p>
            <a:pPr marL="742950" lvl="1" indent="-285750">
              <a:buFont typeface="Arial" panose="020B0604020202020204" pitchFamily="34" charset="0"/>
              <a:buChar char="•"/>
            </a:pPr>
            <a:r>
              <a:rPr lang="en-US" sz="2200" dirty="0" smtClean="0">
                <a:solidFill>
                  <a:schemeClr val="tx1">
                    <a:lumMod val="85000"/>
                    <a:lumOff val="15000"/>
                  </a:schemeClr>
                </a:solidFill>
                <a:latin typeface="+mj-lt"/>
                <a:ea typeface="+mj-ea"/>
                <a:cs typeface="+mj-cs"/>
              </a:rPr>
              <a:t>Resource allocation:-When multiple users or </a:t>
            </a:r>
            <a:r>
              <a:rPr lang="en-US" sz="2200" dirty="0" smtClean="0">
                <a:solidFill>
                  <a:schemeClr val="tx1">
                    <a:lumMod val="85000"/>
                    <a:lumOff val="15000"/>
                  </a:schemeClr>
                </a:solidFill>
              </a:rPr>
              <a:t>multiple jobs are running concurrently, resources must be allocated to each of them.</a:t>
            </a:r>
            <a:endParaRPr lang="en-US" sz="2200" dirty="0" smtClean="0">
              <a:solidFill>
                <a:schemeClr val="tx1">
                  <a:lumMod val="85000"/>
                  <a:lumOff val="15000"/>
                </a:schemeClr>
              </a:solidFill>
              <a:latin typeface="+mj-lt"/>
              <a:ea typeface="+mj-ea"/>
              <a:cs typeface="+mj-cs"/>
            </a:endParaRPr>
          </a:p>
          <a:p>
            <a:pPr marL="742950" lvl="1" indent="-285750">
              <a:buFont typeface="Arial" panose="020B0604020202020204" pitchFamily="34" charset="0"/>
              <a:buChar char="•"/>
            </a:pPr>
            <a:r>
              <a:rPr lang="en-US" sz="2200" dirty="0" smtClean="0">
                <a:solidFill>
                  <a:schemeClr val="tx1">
                    <a:lumMod val="85000"/>
                    <a:lumOff val="15000"/>
                  </a:schemeClr>
                </a:solidFill>
                <a:latin typeface="+mj-lt"/>
                <a:ea typeface="+mj-ea"/>
                <a:cs typeface="+mj-cs"/>
              </a:rPr>
              <a:t>Accounting:- To keep track of which users use how much and what kind of computer resources. </a:t>
            </a:r>
          </a:p>
          <a:p>
            <a:pPr marL="742950" lvl="1" indent="-285750">
              <a:buFont typeface="Arial" panose="020B0604020202020204" pitchFamily="34" charset="0"/>
              <a:buChar char="•"/>
            </a:pPr>
            <a:r>
              <a:rPr lang="en-US" sz="2200" dirty="0" smtClean="0">
                <a:solidFill>
                  <a:schemeClr val="tx1">
                    <a:lumMod val="85000"/>
                    <a:lumOff val="15000"/>
                  </a:schemeClr>
                </a:solidFill>
                <a:latin typeface="+mj-lt"/>
                <a:ea typeface="+mj-ea"/>
                <a:cs typeface="+mj-cs"/>
              </a:rPr>
              <a:t>Protection and Security:- The owners of information stored in a multiuser or networked computer system may want to control use of that information, concurrent processes should not interfere with each other</a:t>
            </a:r>
            <a:endParaRPr lang="en-US" sz="2200" dirty="0">
              <a:solidFill>
                <a:schemeClr val="tx1">
                  <a:lumMod val="85000"/>
                  <a:lumOff val="15000"/>
                </a:schemeClr>
              </a:solidFill>
              <a:latin typeface="+mj-lt"/>
              <a:ea typeface="+mj-ea"/>
              <a:cs typeface="+mj-cs"/>
            </a:endParaRPr>
          </a:p>
        </p:txBody>
      </p:sp>
    </p:spTree>
    <p:extLst>
      <p:ext uri="{BB962C8B-B14F-4D97-AF65-F5344CB8AC3E}">
        <p14:creationId xmlns:p14="http://schemas.microsoft.com/office/powerpoint/2010/main" val="363638781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89211" y="105259"/>
            <a:ext cx="8915399" cy="1468800"/>
          </a:xfrm>
        </p:spPr>
        <p:txBody>
          <a:bodyPr/>
          <a:lstStyle/>
          <a:p>
            <a:r>
              <a:rPr lang="en-IN" dirty="0"/>
              <a:t>System Call</a:t>
            </a:r>
          </a:p>
        </p:txBody>
      </p:sp>
      <p:sp>
        <p:nvSpPr>
          <p:cNvPr id="3" name="Text Placeholder 2"/>
          <p:cNvSpPr>
            <a:spLocks noGrp="1"/>
          </p:cNvSpPr>
          <p:nvPr>
            <p:ph type="body" idx="1"/>
          </p:nvPr>
        </p:nvSpPr>
        <p:spPr>
          <a:xfrm>
            <a:off x="2589212" y="2133600"/>
            <a:ext cx="8915399" cy="4267200"/>
          </a:xfrm>
        </p:spPr>
        <p:txBody>
          <a:bodyPr>
            <a:normAutofit lnSpcReduction="10000"/>
          </a:bodyPr>
          <a:lstStyle/>
          <a:p>
            <a:pPr marL="342900" indent="-342900">
              <a:buFont typeface="Arial" panose="020B0604020202020204" pitchFamily="34" charset="0"/>
              <a:buChar char="•"/>
            </a:pPr>
            <a:r>
              <a:rPr lang="en-US" sz="2400" dirty="0"/>
              <a:t>Programming interface to the services provided by the </a:t>
            </a:r>
            <a:r>
              <a:rPr lang="en-US" sz="2400" dirty="0" smtClean="0"/>
              <a:t>OS</a:t>
            </a:r>
            <a:endParaRPr lang="en-IN" sz="2400" dirty="0" smtClean="0"/>
          </a:p>
          <a:p>
            <a:pPr marL="342900" indent="-342900">
              <a:buFont typeface="Arial" panose="020B0604020202020204" pitchFamily="34" charset="0"/>
              <a:buChar char="•"/>
            </a:pPr>
            <a:r>
              <a:rPr lang="en-US" sz="2400" dirty="0"/>
              <a:t>Typically written in a high-level language (C or C</a:t>
            </a:r>
            <a:r>
              <a:rPr lang="en-US" sz="2400" dirty="0" smtClean="0"/>
              <a:t>++)</a:t>
            </a:r>
          </a:p>
          <a:p>
            <a:pPr marL="342900" indent="-342900">
              <a:buFont typeface="Arial" panose="020B0604020202020204" pitchFamily="34" charset="0"/>
              <a:buChar char="•"/>
            </a:pPr>
            <a:r>
              <a:rPr lang="en-US" sz="2400" dirty="0"/>
              <a:t>Mostly accessed by programs via a high-level Application Programming Interface (API) rather than direct system call </a:t>
            </a:r>
            <a:r>
              <a:rPr lang="en-US" sz="2400" dirty="0" smtClean="0"/>
              <a:t>use</a:t>
            </a:r>
          </a:p>
          <a:p>
            <a:pPr marL="342900" indent="-342900">
              <a:buFont typeface="Arial" panose="020B0604020202020204" pitchFamily="34" charset="0"/>
              <a:buChar char="•"/>
            </a:pPr>
            <a:r>
              <a:rPr lang="en-US" sz="2400" dirty="0"/>
              <a:t>Three most common APIs </a:t>
            </a:r>
            <a:r>
              <a:rPr lang="en-US" sz="2400" dirty="0" smtClean="0"/>
              <a:t>are</a:t>
            </a:r>
          </a:p>
          <a:p>
            <a:pPr marL="800100" lvl="1" indent="-342900">
              <a:buFont typeface="Arial" panose="020B0604020202020204" pitchFamily="34" charset="0"/>
              <a:buChar char="•"/>
            </a:pPr>
            <a:r>
              <a:rPr lang="en-IN" sz="2000" dirty="0"/>
              <a:t>Win32 API for Windows</a:t>
            </a:r>
            <a:r>
              <a:rPr lang="en-IN" sz="2000" dirty="0" smtClean="0"/>
              <a:t>,</a:t>
            </a:r>
          </a:p>
          <a:p>
            <a:pPr marL="800100" lvl="1" indent="-342900">
              <a:buFont typeface="Arial" panose="020B0604020202020204" pitchFamily="34" charset="0"/>
              <a:buChar char="•"/>
            </a:pPr>
            <a:r>
              <a:rPr lang="en-US" sz="2000" dirty="0"/>
              <a:t>POSIX API for POSIX-based systems (including virtually all versions of UNIX, Linux, and Mac OS X), </a:t>
            </a:r>
            <a:r>
              <a:rPr lang="en-US" sz="2000" dirty="0" smtClean="0"/>
              <a:t>and</a:t>
            </a:r>
          </a:p>
          <a:p>
            <a:pPr marL="800100" lvl="1" indent="-342900">
              <a:buFont typeface="Arial" panose="020B0604020202020204" pitchFamily="34" charset="0"/>
              <a:buChar char="•"/>
            </a:pPr>
            <a:r>
              <a:rPr lang="en-US" sz="2000" dirty="0"/>
              <a:t>Java API for the Java virtual machine (JVM</a:t>
            </a:r>
            <a:r>
              <a:rPr lang="en-US" dirty="0"/>
              <a:t>)</a:t>
            </a:r>
            <a:endParaRPr lang="en-IN" dirty="0"/>
          </a:p>
        </p:txBody>
      </p:sp>
    </p:spTree>
    <p:extLst>
      <p:ext uri="{BB962C8B-B14F-4D97-AF65-F5344CB8AC3E}">
        <p14:creationId xmlns:p14="http://schemas.microsoft.com/office/powerpoint/2010/main" val="19037430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89211" y="105259"/>
            <a:ext cx="8915399" cy="1468800"/>
          </a:xfrm>
        </p:spPr>
        <p:txBody>
          <a:bodyPr/>
          <a:lstStyle/>
          <a:p>
            <a:r>
              <a:rPr lang="en-IN" dirty="0"/>
              <a:t>Example of System Calls</a:t>
            </a:r>
          </a:p>
        </p:txBody>
      </p:sp>
      <p:sp>
        <p:nvSpPr>
          <p:cNvPr id="3" name="Text Placeholder 2"/>
          <p:cNvSpPr>
            <a:spLocks noGrp="1"/>
          </p:cNvSpPr>
          <p:nvPr>
            <p:ph type="body" idx="1"/>
          </p:nvPr>
        </p:nvSpPr>
        <p:spPr>
          <a:xfrm>
            <a:off x="2589212" y="1574059"/>
            <a:ext cx="8915399" cy="4826741"/>
          </a:xfrm>
        </p:spPr>
        <p:txBody>
          <a:bodyPr>
            <a:normAutofit/>
          </a:bodyPr>
          <a:lstStyle/>
          <a:p>
            <a:pPr marL="342900" indent="-342900">
              <a:buFont typeface="Arial" panose="020B0604020202020204" pitchFamily="34" charset="0"/>
              <a:buChar char="•"/>
            </a:pPr>
            <a:r>
              <a:rPr lang="en-US" sz="2400" dirty="0"/>
              <a:t>System call sequence to copy the contents of one file to another </a:t>
            </a:r>
            <a:r>
              <a:rPr lang="en-US" sz="2400" dirty="0" smtClean="0"/>
              <a:t>file.</a:t>
            </a:r>
          </a:p>
          <a:p>
            <a:pPr marL="342900" indent="-342900">
              <a:buFont typeface="Arial" panose="020B0604020202020204" pitchFamily="34" charset="0"/>
              <a:buChar char="•"/>
            </a:pPr>
            <a:endParaRPr lang="en-IN" dirty="0"/>
          </a:p>
        </p:txBody>
      </p:sp>
      <p:pic>
        <p:nvPicPr>
          <p:cNvPr id="4" name="Picture 3"/>
          <p:cNvPicPr>
            <a:picLocks noChangeAspect="1"/>
          </p:cNvPicPr>
          <p:nvPr/>
        </p:nvPicPr>
        <p:blipFill>
          <a:blip r:embed="rId2"/>
          <a:stretch>
            <a:fillRect/>
          </a:stretch>
        </p:blipFill>
        <p:spPr>
          <a:xfrm>
            <a:off x="3399125" y="2438400"/>
            <a:ext cx="6086475" cy="4419600"/>
          </a:xfrm>
          <a:prstGeom prst="rect">
            <a:avLst/>
          </a:prstGeom>
        </p:spPr>
      </p:pic>
    </p:spTree>
    <p:extLst>
      <p:ext uri="{BB962C8B-B14F-4D97-AF65-F5344CB8AC3E}">
        <p14:creationId xmlns:p14="http://schemas.microsoft.com/office/powerpoint/2010/main" val="255391903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89211" y="105259"/>
            <a:ext cx="8915399" cy="1468800"/>
          </a:xfrm>
        </p:spPr>
        <p:txBody>
          <a:bodyPr/>
          <a:lstStyle/>
          <a:p>
            <a:r>
              <a:rPr lang="en-US" dirty="0"/>
              <a:t>API – System Call – OS Relationship</a:t>
            </a:r>
            <a:endParaRPr lang="en-IN" dirty="0"/>
          </a:p>
        </p:txBody>
      </p:sp>
      <p:sp>
        <p:nvSpPr>
          <p:cNvPr id="3" name="Text Placeholder 2"/>
          <p:cNvSpPr>
            <a:spLocks noGrp="1"/>
          </p:cNvSpPr>
          <p:nvPr>
            <p:ph type="body" idx="1"/>
          </p:nvPr>
        </p:nvSpPr>
        <p:spPr>
          <a:xfrm>
            <a:off x="2589212" y="1574059"/>
            <a:ext cx="8915399" cy="4826741"/>
          </a:xfrm>
        </p:spPr>
        <p:txBody>
          <a:bodyPr>
            <a:normAutofit/>
          </a:bodyPr>
          <a:lstStyle/>
          <a:p>
            <a:pPr marL="342900" indent="-342900">
              <a:buFont typeface="Arial" panose="020B0604020202020204" pitchFamily="34" charset="0"/>
              <a:buChar char="•"/>
            </a:pPr>
            <a:endParaRPr lang="en-IN" dirty="0"/>
          </a:p>
        </p:txBody>
      </p:sp>
      <p:pic>
        <p:nvPicPr>
          <p:cNvPr id="5" name="Picture 4"/>
          <p:cNvPicPr>
            <a:picLocks noChangeAspect="1"/>
          </p:cNvPicPr>
          <p:nvPr/>
        </p:nvPicPr>
        <p:blipFill>
          <a:blip r:embed="rId2"/>
          <a:stretch>
            <a:fillRect/>
          </a:stretch>
        </p:blipFill>
        <p:spPr>
          <a:xfrm>
            <a:off x="2589210" y="1574059"/>
            <a:ext cx="8702245" cy="4826741"/>
          </a:xfrm>
          <a:prstGeom prst="rect">
            <a:avLst/>
          </a:prstGeom>
        </p:spPr>
      </p:pic>
    </p:spTree>
    <p:extLst>
      <p:ext uri="{BB962C8B-B14F-4D97-AF65-F5344CB8AC3E}">
        <p14:creationId xmlns:p14="http://schemas.microsoft.com/office/powerpoint/2010/main" val="194953514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42456"/>
            <a:ext cx="8915399" cy="1198418"/>
          </a:xfrm>
        </p:spPr>
        <p:txBody>
          <a:bodyPr/>
          <a:lstStyle/>
          <a:p>
            <a:r>
              <a:rPr lang="en-IN" dirty="0"/>
              <a:t>Types of System Calls</a:t>
            </a:r>
          </a:p>
        </p:txBody>
      </p:sp>
      <p:sp>
        <p:nvSpPr>
          <p:cNvPr id="3" name="Subtitle 2"/>
          <p:cNvSpPr>
            <a:spLocks noGrp="1"/>
          </p:cNvSpPr>
          <p:nvPr>
            <p:ph type="subTitle" idx="1"/>
          </p:nvPr>
        </p:nvSpPr>
        <p:spPr>
          <a:xfrm>
            <a:off x="2589213" y="1717964"/>
            <a:ext cx="8915399" cy="4876799"/>
          </a:xfrm>
        </p:spPr>
        <p:txBody>
          <a:bodyPr/>
          <a:lstStyle/>
          <a:p>
            <a:pPr marL="285750" indent="-285750">
              <a:buFont typeface="Wingdings" panose="05000000000000000000" pitchFamily="2" charset="2"/>
              <a:buChar char="Ø"/>
            </a:pPr>
            <a:r>
              <a:rPr lang="en-IN" b="1" dirty="0"/>
              <a:t>Process </a:t>
            </a:r>
            <a:r>
              <a:rPr lang="en-IN" b="1" dirty="0" smtClean="0"/>
              <a:t>control :- </a:t>
            </a:r>
          </a:p>
          <a:p>
            <a:pPr marL="285750" indent="-285750">
              <a:buFont typeface="Arial" panose="020B0604020202020204" pitchFamily="34" charset="0"/>
              <a:buChar char="•"/>
            </a:pPr>
            <a:r>
              <a:rPr lang="en-IN" dirty="0"/>
              <a:t>create process, terminate </a:t>
            </a:r>
            <a:r>
              <a:rPr lang="en-IN" dirty="0" smtClean="0"/>
              <a:t>process</a:t>
            </a:r>
          </a:p>
          <a:p>
            <a:pPr marL="285750" indent="-285750">
              <a:buFont typeface="Arial" panose="020B0604020202020204" pitchFamily="34" charset="0"/>
              <a:buChar char="•"/>
            </a:pPr>
            <a:r>
              <a:rPr lang="en-IN" dirty="0"/>
              <a:t>end, abort </a:t>
            </a:r>
            <a:endParaRPr lang="en-IN" dirty="0" smtClean="0"/>
          </a:p>
          <a:p>
            <a:pPr marL="285750" indent="-285750">
              <a:buFont typeface="Arial" panose="020B0604020202020204" pitchFamily="34" charset="0"/>
              <a:buChar char="•"/>
            </a:pPr>
            <a:r>
              <a:rPr lang="en-IN" dirty="0"/>
              <a:t>load, </a:t>
            </a:r>
            <a:r>
              <a:rPr lang="en-IN" dirty="0" smtClean="0"/>
              <a:t>execute</a:t>
            </a:r>
          </a:p>
          <a:p>
            <a:pPr marL="285750" indent="-285750">
              <a:buFont typeface="Arial" panose="020B0604020202020204" pitchFamily="34" charset="0"/>
              <a:buChar char="•"/>
            </a:pPr>
            <a:r>
              <a:rPr lang="en-US" dirty="0"/>
              <a:t>get process attributes, set process </a:t>
            </a:r>
            <a:r>
              <a:rPr lang="en-US" dirty="0" smtClean="0"/>
              <a:t>attributes</a:t>
            </a:r>
          </a:p>
          <a:p>
            <a:pPr marL="285750" indent="-285750">
              <a:buFont typeface="Arial" panose="020B0604020202020204" pitchFamily="34" charset="0"/>
              <a:buChar char="•"/>
            </a:pPr>
            <a:r>
              <a:rPr lang="en-IN" dirty="0"/>
              <a:t>wait for </a:t>
            </a:r>
            <a:r>
              <a:rPr lang="en-IN" dirty="0" smtClean="0"/>
              <a:t>time</a:t>
            </a:r>
          </a:p>
          <a:p>
            <a:pPr marL="285750" indent="-285750">
              <a:buFont typeface="Arial" panose="020B0604020202020204" pitchFamily="34" charset="0"/>
              <a:buChar char="•"/>
            </a:pPr>
            <a:r>
              <a:rPr lang="en-IN" dirty="0"/>
              <a:t>wait event, signal event </a:t>
            </a:r>
            <a:endParaRPr lang="en-IN" dirty="0" smtClean="0"/>
          </a:p>
          <a:p>
            <a:pPr marL="285750" indent="-285750">
              <a:buFont typeface="Arial" panose="020B0604020202020204" pitchFamily="34" charset="0"/>
              <a:buChar char="•"/>
            </a:pPr>
            <a:r>
              <a:rPr lang="en-IN" dirty="0"/>
              <a:t>allocate and free </a:t>
            </a:r>
            <a:r>
              <a:rPr lang="en-IN" dirty="0" smtClean="0"/>
              <a:t>memory (High level program so create dynamic memory)</a:t>
            </a:r>
          </a:p>
          <a:p>
            <a:pPr marL="285750" indent="-285750">
              <a:buFont typeface="Arial" panose="020B0604020202020204" pitchFamily="34" charset="0"/>
              <a:buChar char="•"/>
            </a:pPr>
            <a:r>
              <a:rPr lang="en-IN" dirty="0"/>
              <a:t>Dump memory if </a:t>
            </a:r>
            <a:r>
              <a:rPr lang="en-IN" dirty="0" smtClean="0"/>
              <a:t>error</a:t>
            </a:r>
          </a:p>
          <a:p>
            <a:pPr marL="285750" indent="-285750">
              <a:buFont typeface="Arial" panose="020B0604020202020204" pitchFamily="34" charset="0"/>
              <a:buChar char="•"/>
            </a:pPr>
            <a:r>
              <a:rPr lang="en-IN" dirty="0"/>
              <a:t>Debugger for determining bugs, single step execution </a:t>
            </a:r>
            <a:endParaRPr lang="en-IN" dirty="0" smtClean="0"/>
          </a:p>
          <a:p>
            <a:pPr marL="285750" indent="-285750">
              <a:buFont typeface="Arial" panose="020B0604020202020204" pitchFamily="34" charset="0"/>
              <a:buChar char="•"/>
            </a:pPr>
            <a:r>
              <a:rPr lang="en-US" dirty="0"/>
              <a:t>Locks for managing access to shared data between processes</a:t>
            </a:r>
            <a:endParaRPr lang="en-IN" b="1" dirty="0" smtClean="0"/>
          </a:p>
          <a:p>
            <a:pPr lvl="1"/>
            <a:endParaRPr lang="en-IN" b="1" dirty="0"/>
          </a:p>
        </p:txBody>
      </p:sp>
    </p:spTree>
    <p:extLst>
      <p:ext uri="{BB962C8B-B14F-4D97-AF65-F5344CB8AC3E}">
        <p14:creationId xmlns:p14="http://schemas.microsoft.com/office/powerpoint/2010/main" val="365316820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852056"/>
            <a:ext cx="8915399" cy="1198418"/>
          </a:xfrm>
        </p:spPr>
        <p:txBody>
          <a:bodyPr/>
          <a:lstStyle/>
          <a:p>
            <a:r>
              <a:rPr lang="en-IN" dirty="0"/>
              <a:t>Types of System Calls</a:t>
            </a:r>
          </a:p>
        </p:txBody>
      </p:sp>
      <p:sp>
        <p:nvSpPr>
          <p:cNvPr id="3" name="Subtitle 2"/>
          <p:cNvSpPr>
            <a:spLocks noGrp="1"/>
          </p:cNvSpPr>
          <p:nvPr>
            <p:ph type="subTitle" idx="1"/>
          </p:nvPr>
        </p:nvSpPr>
        <p:spPr>
          <a:xfrm>
            <a:off x="2589213" y="2784763"/>
            <a:ext cx="8915399" cy="3809999"/>
          </a:xfrm>
        </p:spPr>
        <p:txBody>
          <a:bodyPr/>
          <a:lstStyle/>
          <a:p>
            <a:pPr marL="285750" indent="-285750">
              <a:buFont typeface="Wingdings" panose="05000000000000000000" pitchFamily="2" charset="2"/>
              <a:buChar char="Ø"/>
            </a:pPr>
            <a:r>
              <a:rPr lang="en-IN" b="1" dirty="0" smtClean="0"/>
              <a:t>File </a:t>
            </a:r>
            <a:r>
              <a:rPr lang="en-IN" b="1" dirty="0"/>
              <a:t>management </a:t>
            </a:r>
            <a:r>
              <a:rPr lang="en-IN" b="1" dirty="0" smtClean="0"/>
              <a:t>:- </a:t>
            </a:r>
          </a:p>
          <a:p>
            <a:pPr marL="285750" indent="-285750">
              <a:buFont typeface="Arial" panose="020B0604020202020204" pitchFamily="34" charset="0"/>
              <a:buChar char="•"/>
            </a:pPr>
            <a:r>
              <a:rPr lang="en-IN" dirty="0"/>
              <a:t>create file, delete </a:t>
            </a:r>
            <a:r>
              <a:rPr lang="en-IN" dirty="0" smtClean="0"/>
              <a:t>file</a:t>
            </a:r>
          </a:p>
          <a:p>
            <a:pPr marL="285750" indent="-285750">
              <a:buFont typeface="Arial" panose="020B0604020202020204" pitchFamily="34" charset="0"/>
              <a:buChar char="•"/>
            </a:pPr>
            <a:r>
              <a:rPr lang="en-IN" dirty="0"/>
              <a:t>open, close </a:t>
            </a:r>
            <a:r>
              <a:rPr lang="en-IN" dirty="0" smtClean="0"/>
              <a:t>file</a:t>
            </a:r>
          </a:p>
          <a:p>
            <a:pPr marL="285750" indent="-285750">
              <a:buFont typeface="Arial" panose="020B0604020202020204" pitchFamily="34" charset="0"/>
              <a:buChar char="•"/>
            </a:pPr>
            <a:r>
              <a:rPr lang="en-IN" dirty="0"/>
              <a:t>read, write, </a:t>
            </a:r>
            <a:r>
              <a:rPr lang="en-IN" dirty="0" smtClean="0"/>
              <a:t>reposition</a:t>
            </a:r>
          </a:p>
          <a:p>
            <a:pPr marL="285750" indent="-285750">
              <a:buFont typeface="Arial" panose="020B0604020202020204" pitchFamily="34" charset="0"/>
              <a:buChar char="•"/>
            </a:pPr>
            <a:r>
              <a:rPr lang="en-US" dirty="0"/>
              <a:t>get and set file attributes</a:t>
            </a:r>
            <a:endParaRPr lang="en-IN" b="1" dirty="0"/>
          </a:p>
        </p:txBody>
      </p:sp>
    </p:spTree>
    <p:extLst>
      <p:ext uri="{BB962C8B-B14F-4D97-AF65-F5344CB8AC3E}">
        <p14:creationId xmlns:p14="http://schemas.microsoft.com/office/powerpoint/2010/main" val="88304303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852056"/>
            <a:ext cx="8915399" cy="1198418"/>
          </a:xfrm>
        </p:spPr>
        <p:txBody>
          <a:bodyPr/>
          <a:lstStyle/>
          <a:p>
            <a:r>
              <a:rPr lang="en-IN" dirty="0"/>
              <a:t>Types of System Calls</a:t>
            </a:r>
          </a:p>
        </p:txBody>
      </p:sp>
      <p:sp>
        <p:nvSpPr>
          <p:cNvPr id="3" name="Subtitle 2"/>
          <p:cNvSpPr>
            <a:spLocks noGrp="1"/>
          </p:cNvSpPr>
          <p:nvPr>
            <p:ph type="subTitle" idx="1"/>
          </p:nvPr>
        </p:nvSpPr>
        <p:spPr>
          <a:xfrm>
            <a:off x="2589213" y="2784763"/>
            <a:ext cx="8915399" cy="3809999"/>
          </a:xfrm>
        </p:spPr>
        <p:txBody>
          <a:bodyPr/>
          <a:lstStyle/>
          <a:p>
            <a:pPr marL="285750" indent="-285750">
              <a:buFont typeface="Wingdings" panose="05000000000000000000" pitchFamily="2" charset="2"/>
              <a:buChar char="Ø"/>
            </a:pPr>
            <a:r>
              <a:rPr lang="en-IN" b="1" dirty="0"/>
              <a:t>Device </a:t>
            </a:r>
            <a:r>
              <a:rPr lang="en-IN" b="1" dirty="0" smtClean="0"/>
              <a:t>management</a:t>
            </a:r>
            <a:r>
              <a:rPr lang="en-IN" dirty="0" smtClean="0"/>
              <a:t> </a:t>
            </a:r>
            <a:r>
              <a:rPr lang="en-IN" b="1" dirty="0" smtClean="0"/>
              <a:t>:- </a:t>
            </a:r>
          </a:p>
          <a:p>
            <a:pPr marL="285750" indent="-285750">
              <a:buFont typeface="Arial" panose="020B0604020202020204" pitchFamily="34" charset="0"/>
              <a:buChar char="•"/>
            </a:pPr>
            <a:r>
              <a:rPr lang="en-IN" dirty="0"/>
              <a:t>request device, release </a:t>
            </a:r>
            <a:r>
              <a:rPr lang="en-IN" dirty="0" smtClean="0"/>
              <a:t>device</a:t>
            </a:r>
          </a:p>
          <a:p>
            <a:pPr marL="285750" indent="-285750">
              <a:buFont typeface="Arial" panose="020B0604020202020204" pitchFamily="34" charset="0"/>
              <a:buChar char="•"/>
            </a:pPr>
            <a:r>
              <a:rPr lang="en-IN" dirty="0"/>
              <a:t>read, write, </a:t>
            </a:r>
            <a:r>
              <a:rPr lang="en-IN" dirty="0" smtClean="0"/>
              <a:t>reposition</a:t>
            </a:r>
          </a:p>
          <a:p>
            <a:pPr marL="285750" indent="-285750">
              <a:buFont typeface="Arial" panose="020B0604020202020204" pitchFamily="34" charset="0"/>
              <a:buChar char="•"/>
            </a:pPr>
            <a:r>
              <a:rPr lang="fr-FR" dirty="0" err="1"/>
              <a:t>get</a:t>
            </a:r>
            <a:r>
              <a:rPr lang="fr-FR" dirty="0"/>
              <a:t> </a:t>
            </a:r>
            <a:r>
              <a:rPr lang="fr-FR" dirty="0" err="1"/>
              <a:t>device</a:t>
            </a:r>
            <a:r>
              <a:rPr lang="fr-FR" dirty="0"/>
              <a:t> </a:t>
            </a:r>
            <a:r>
              <a:rPr lang="fr-FR" dirty="0" err="1"/>
              <a:t>attributes</a:t>
            </a:r>
            <a:r>
              <a:rPr lang="fr-FR" dirty="0"/>
              <a:t>, set </a:t>
            </a:r>
            <a:r>
              <a:rPr lang="fr-FR" dirty="0" err="1"/>
              <a:t>device</a:t>
            </a:r>
            <a:r>
              <a:rPr lang="fr-FR" dirty="0"/>
              <a:t> </a:t>
            </a:r>
            <a:r>
              <a:rPr lang="fr-FR" dirty="0" err="1" smtClean="0"/>
              <a:t>attributes</a:t>
            </a:r>
            <a:endParaRPr lang="fr-FR" dirty="0" smtClean="0"/>
          </a:p>
          <a:p>
            <a:pPr marL="285750" indent="-285750">
              <a:buFont typeface="Arial" panose="020B0604020202020204" pitchFamily="34" charset="0"/>
              <a:buChar char="•"/>
            </a:pPr>
            <a:r>
              <a:rPr lang="en-US" dirty="0"/>
              <a:t>logically attach or detach devices </a:t>
            </a:r>
            <a:endParaRPr lang="en-IN" b="1" dirty="0"/>
          </a:p>
        </p:txBody>
      </p:sp>
    </p:spTree>
    <p:extLst>
      <p:ext uri="{BB962C8B-B14F-4D97-AF65-F5344CB8AC3E}">
        <p14:creationId xmlns:p14="http://schemas.microsoft.com/office/powerpoint/2010/main" val="63645855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852056"/>
            <a:ext cx="8915399" cy="1198418"/>
          </a:xfrm>
        </p:spPr>
        <p:txBody>
          <a:bodyPr/>
          <a:lstStyle/>
          <a:p>
            <a:r>
              <a:rPr lang="en-IN" dirty="0"/>
              <a:t>Types of System Calls</a:t>
            </a:r>
          </a:p>
        </p:txBody>
      </p:sp>
      <p:sp>
        <p:nvSpPr>
          <p:cNvPr id="3" name="Subtitle 2"/>
          <p:cNvSpPr>
            <a:spLocks noGrp="1"/>
          </p:cNvSpPr>
          <p:nvPr>
            <p:ph type="subTitle" idx="1"/>
          </p:nvPr>
        </p:nvSpPr>
        <p:spPr>
          <a:xfrm>
            <a:off x="2589213" y="3144982"/>
            <a:ext cx="8915399" cy="3449780"/>
          </a:xfrm>
        </p:spPr>
        <p:txBody>
          <a:bodyPr/>
          <a:lstStyle/>
          <a:p>
            <a:pPr marL="285750" indent="-285750">
              <a:buFont typeface="Wingdings" panose="05000000000000000000" pitchFamily="2" charset="2"/>
              <a:buChar char="Ø"/>
            </a:pPr>
            <a:r>
              <a:rPr lang="en-IN" b="1" dirty="0"/>
              <a:t>Information maintenance</a:t>
            </a:r>
            <a:r>
              <a:rPr lang="en-IN" b="1" dirty="0" smtClean="0"/>
              <a:t>:- </a:t>
            </a:r>
          </a:p>
          <a:p>
            <a:pPr marL="285750" indent="-285750">
              <a:buFont typeface="Arial" panose="020B0604020202020204" pitchFamily="34" charset="0"/>
              <a:buChar char="•"/>
            </a:pPr>
            <a:r>
              <a:rPr lang="en-US" dirty="0"/>
              <a:t>get time or date, set time or </a:t>
            </a:r>
            <a:r>
              <a:rPr lang="en-US" dirty="0" smtClean="0"/>
              <a:t>date</a:t>
            </a:r>
          </a:p>
          <a:p>
            <a:pPr marL="285750" indent="-285750">
              <a:buFont typeface="Arial" panose="020B0604020202020204" pitchFamily="34" charset="0"/>
              <a:buChar char="•"/>
            </a:pPr>
            <a:r>
              <a:rPr lang="en-IN" dirty="0"/>
              <a:t>get system data, set system </a:t>
            </a:r>
            <a:r>
              <a:rPr lang="en-IN" dirty="0" smtClean="0"/>
              <a:t>data</a:t>
            </a:r>
          </a:p>
          <a:p>
            <a:pPr marL="285750" indent="-285750">
              <a:buFont typeface="Arial" panose="020B0604020202020204" pitchFamily="34" charset="0"/>
              <a:buChar char="•"/>
            </a:pPr>
            <a:r>
              <a:rPr lang="en-US" dirty="0"/>
              <a:t>get and set process, file, or device attributes</a:t>
            </a:r>
            <a:endParaRPr lang="en-IN" dirty="0" smtClean="0"/>
          </a:p>
        </p:txBody>
      </p:sp>
    </p:spTree>
    <p:extLst>
      <p:ext uri="{BB962C8B-B14F-4D97-AF65-F5344CB8AC3E}">
        <p14:creationId xmlns:p14="http://schemas.microsoft.com/office/powerpoint/2010/main" val="408667056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852056"/>
            <a:ext cx="8915399" cy="1198418"/>
          </a:xfrm>
        </p:spPr>
        <p:txBody>
          <a:bodyPr/>
          <a:lstStyle/>
          <a:p>
            <a:r>
              <a:rPr lang="en-IN" dirty="0"/>
              <a:t>Types of System Calls</a:t>
            </a:r>
          </a:p>
        </p:txBody>
      </p:sp>
      <p:sp>
        <p:nvSpPr>
          <p:cNvPr id="3" name="Subtitle 2"/>
          <p:cNvSpPr>
            <a:spLocks noGrp="1"/>
          </p:cNvSpPr>
          <p:nvPr>
            <p:ph type="subTitle" idx="1"/>
          </p:nvPr>
        </p:nvSpPr>
        <p:spPr>
          <a:xfrm>
            <a:off x="2589213" y="3144982"/>
            <a:ext cx="8915399" cy="3449780"/>
          </a:xfrm>
        </p:spPr>
        <p:txBody>
          <a:bodyPr/>
          <a:lstStyle/>
          <a:p>
            <a:pPr marL="285750" indent="-285750">
              <a:buFont typeface="Wingdings" panose="05000000000000000000" pitchFamily="2" charset="2"/>
              <a:buChar char="Ø"/>
            </a:pPr>
            <a:r>
              <a:rPr lang="en-IN" b="1" dirty="0" smtClean="0"/>
              <a:t>Communications between processes :- </a:t>
            </a:r>
          </a:p>
          <a:p>
            <a:pPr marL="285750" indent="-285750">
              <a:buFont typeface="Arial" panose="020B0604020202020204" pitchFamily="34" charset="0"/>
              <a:buChar char="•"/>
            </a:pPr>
            <a:r>
              <a:rPr lang="en-IN" dirty="0"/>
              <a:t>create, delete communication </a:t>
            </a:r>
            <a:r>
              <a:rPr lang="en-IN" dirty="0" smtClean="0"/>
              <a:t>connection</a:t>
            </a:r>
          </a:p>
          <a:p>
            <a:pPr marL="285750" indent="-285750">
              <a:buFont typeface="Arial" panose="020B0604020202020204" pitchFamily="34" charset="0"/>
              <a:buChar char="•"/>
            </a:pPr>
            <a:r>
              <a:rPr lang="en-US" dirty="0"/>
              <a:t>send, receive messages if message passing model to host name or process </a:t>
            </a:r>
            <a:r>
              <a:rPr lang="en-US" dirty="0" smtClean="0"/>
              <a:t>name</a:t>
            </a:r>
          </a:p>
          <a:p>
            <a:pPr marL="285750" indent="-285750">
              <a:buFont typeface="Arial" panose="020B0604020202020204" pitchFamily="34" charset="0"/>
              <a:buChar char="•"/>
            </a:pPr>
            <a:r>
              <a:rPr lang="en-US" dirty="0"/>
              <a:t>Shared-memory model create and gain access to memory </a:t>
            </a:r>
            <a:r>
              <a:rPr lang="en-US" dirty="0" smtClean="0"/>
              <a:t>regions</a:t>
            </a:r>
          </a:p>
          <a:p>
            <a:pPr marL="285750" indent="-285750">
              <a:buFont typeface="Arial" panose="020B0604020202020204" pitchFamily="34" charset="0"/>
              <a:buChar char="•"/>
            </a:pPr>
            <a:r>
              <a:rPr lang="en-IN" dirty="0"/>
              <a:t>transfer status </a:t>
            </a:r>
            <a:r>
              <a:rPr lang="en-IN" dirty="0" smtClean="0"/>
              <a:t>information</a:t>
            </a:r>
          </a:p>
          <a:p>
            <a:pPr marL="285750" indent="-285750">
              <a:buFont typeface="Arial" panose="020B0604020202020204" pitchFamily="34" charset="0"/>
              <a:buChar char="•"/>
            </a:pPr>
            <a:r>
              <a:rPr lang="en-US" dirty="0"/>
              <a:t>attach and detach remote devices</a:t>
            </a:r>
            <a:endParaRPr lang="en-IN" dirty="0" smtClean="0"/>
          </a:p>
        </p:txBody>
      </p:sp>
    </p:spTree>
    <p:extLst>
      <p:ext uri="{BB962C8B-B14F-4D97-AF65-F5344CB8AC3E}">
        <p14:creationId xmlns:p14="http://schemas.microsoft.com/office/powerpoint/2010/main" val="315441475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852056"/>
            <a:ext cx="8915399" cy="1198418"/>
          </a:xfrm>
        </p:spPr>
        <p:txBody>
          <a:bodyPr/>
          <a:lstStyle/>
          <a:p>
            <a:r>
              <a:rPr lang="en-IN" dirty="0"/>
              <a:t>Types of System Calls</a:t>
            </a:r>
          </a:p>
        </p:txBody>
      </p:sp>
      <p:sp>
        <p:nvSpPr>
          <p:cNvPr id="3" name="Subtitle 2"/>
          <p:cNvSpPr>
            <a:spLocks noGrp="1"/>
          </p:cNvSpPr>
          <p:nvPr>
            <p:ph type="subTitle" idx="1"/>
          </p:nvPr>
        </p:nvSpPr>
        <p:spPr>
          <a:xfrm>
            <a:off x="2589213" y="3144982"/>
            <a:ext cx="8915399" cy="3449780"/>
          </a:xfrm>
        </p:spPr>
        <p:txBody>
          <a:bodyPr/>
          <a:lstStyle/>
          <a:p>
            <a:pPr marL="285750" indent="-285750">
              <a:buFont typeface="Wingdings" panose="05000000000000000000" pitchFamily="2" charset="2"/>
              <a:buChar char="Ø"/>
            </a:pPr>
            <a:r>
              <a:rPr lang="en-IN" b="1" dirty="0" smtClean="0"/>
              <a:t>Protection:- </a:t>
            </a:r>
          </a:p>
          <a:p>
            <a:pPr marL="285750" indent="-285750">
              <a:buFont typeface="Arial" panose="020B0604020202020204" pitchFamily="34" charset="0"/>
              <a:buChar char="•"/>
            </a:pPr>
            <a:r>
              <a:rPr lang="en-IN" dirty="0"/>
              <a:t>Control access to </a:t>
            </a:r>
            <a:r>
              <a:rPr lang="en-IN" dirty="0" smtClean="0"/>
              <a:t>resources</a:t>
            </a:r>
          </a:p>
          <a:p>
            <a:pPr marL="285750" indent="-285750">
              <a:buFont typeface="Arial" panose="020B0604020202020204" pitchFamily="34" charset="0"/>
              <a:buChar char="•"/>
            </a:pPr>
            <a:r>
              <a:rPr lang="en-IN" dirty="0"/>
              <a:t>Get and set </a:t>
            </a:r>
            <a:r>
              <a:rPr lang="en-IN" dirty="0" smtClean="0"/>
              <a:t>permissions</a:t>
            </a:r>
          </a:p>
          <a:p>
            <a:pPr marL="285750" indent="-285750">
              <a:buFont typeface="Arial" panose="020B0604020202020204" pitchFamily="34" charset="0"/>
              <a:buChar char="•"/>
            </a:pPr>
            <a:r>
              <a:rPr lang="en-US" dirty="0"/>
              <a:t>Allow and deny user </a:t>
            </a:r>
            <a:r>
              <a:rPr lang="en-US" dirty="0" smtClean="0"/>
              <a:t>access</a:t>
            </a:r>
          </a:p>
        </p:txBody>
      </p:sp>
    </p:spTree>
    <p:extLst>
      <p:ext uri="{BB962C8B-B14F-4D97-AF65-F5344CB8AC3E}">
        <p14:creationId xmlns:p14="http://schemas.microsoft.com/office/powerpoint/2010/main" val="287460336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89211" y="105259"/>
            <a:ext cx="8915399" cy="1468800"/>
          </a:xfrm>
        </p:spPr>
        <p:txBody>
          <a:bodyPr/>
          <a:lstStyle/>
          <a:p>
            <a:r>
              <a:rPr lang="en-US" dirty="0"/>
              <a:t>Examples of Windows and Unix System Calls</a:t>
            </a:r>
            <a:endParaRPr lang="en-IN" dirty="0"/>
          </a:p>
        </p:txBody>
      </p:sp>
      <p:sp>
        <p:nvSpPr>
          <p:cNvPr id="3" name="Text Placeholder 2"/>
          <p:cNvSpPr>
            <a:spLocks noGrp="1"/>
          </p:cNvSpPr>
          <p:nvPr>
            <p:ph type="body" idx="1"/>
          </p:nvPr>
        </p:nvSpPr>
        <p:spPr>
          <a:xfrm>
            <a:off x="2589212" y="1574059"/>
            <a:ext cx="8915399" cy="4826741"/>
          </a:xfrm>
        </p:spPr>
        <p:txBody>
          <a:bodyPr>
            <a:normAutofit/>
          </a:bodyPr>
          <a:lstStyle/>
          <a:p>
            <a:pPr marL="342900" indent="-342900">
              <a:buFont typeface="Arial" panose="020B0604020202020204" pitchFamily="34" charset="0"/>
              <a:buChar char="•"/>
            </a:pPr>
            <a:endParaRPr lang="en-IN" dirty="0"/>
          </a:p>
        </p:txBody>
      </p:sp>
      <p:pic>
        <p:nvPicPr>
          <p:cNvPr id="4" name="Picture 3"/>
          <p:cNvPicPr>
            <a:picLocks noChangeAspect="1"/>
          </p:cNvPicPr>
          <p:nvPr/>
        </p:nvPicPr>
        <p:blipFill>
          <a:blip r:embed="rId3"/>
          <a:stretch>
            <a:fillRect/>
          </a:stretch>
        </p:blipFill>
        <p:spPr>
          <a:xfrm>
            <a:off x="2589211" y="1644279"/>
            <a:ext cx="8605262" cy="5075176"/>
          </a:xfrm>
          <a:prstGeom prst="rect">
            <a:avLst/>
          </a:prstGeom>
        </p:spPr>
      </p:pic>
    </p:spTree>
    <p:extLst>
      <p:ext uri="{BB962C8B-B14F-4D97-AF65-F5344CB8AC3E}">
        <p14:creationId xmlns:p14="http://schemas.microsoft.com/office/powerpoint/2010/main" val="618732652"/>
      </p:ext>
    </p:extLst>
  </p:cSld>
  <p:clrMapOvr>
    <a:masterClrMapping/>
  </p:clrMapOvr>
  <p:timing>
    <p:tnLst>
      <p:par>
        <p:cTn id="1" dur="indefinite" restart="never" nodeType="tmRoot"/>
      </p:par>
    </p:tnLst>
  </p:timing>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942</TotalTime>
  <Words>1636</Words>
  <Application>Microsoft Office PowerPoint</Application>
  <PresentationFormat>Widescreen</PresentationFormat>
  <Paragraphs>207</Paragraphs>
  <Slides>36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36</vt:i4>
      </vt:variant>
    </vt:vector>
  </HeadingPairs>
  <TitlesOfParts>
    <vt:vector size="42" baseType="lpstr">
      <vt:lpstr>Arial</vt:lpstr>
      <vt:lpstr>Calibri</vt:lpstr>
      <vt:lpstr>Century Gothic</vt:lpstr>
      <vt:lpstr>Wingdings</vt:lpstr>
      <vt:lpstr>Wingdings 3</vt:lpstr>
      <vt:lpstr>Wisp</vt:lpstr>
      <vt:lpstr>OPRTATING SYSTEM</vt:lpstr>
      <vt:lpstr>List of Topics</vt:lpstr>
      <vt:lpstr>Introduction to Operating System</vt:lpstr>
      <vt:lpstr>What is Operating System</vt:lpstr>
      <vt:lpstr>Need of Operating System</vt:lpstr>
      <vt:lpstr>Output may be available in some other forms. For example it may be a video or an audio file. </vt:lpstr>
      <vt:lpstr>Each of the above application requires resources</vt:lpstr>
      <vt:lpstr>User and System View</vt:lpstr>
      <vt:lpstr>From the user point of view the primary consideration is always the convenience. It should be easy to use an application. In launching an application, it helps to have an icon which gives a clue which application it is.  OS needs to ensure that system resources are utilized efficiently. it is important for an operating system to have a control policy and algorithm to allocate the system resources.   </vt:lpstr>
      <vt:lpstr>Functions of an Operating System</vt:lpstr>
      <vt:lpstr>Types of OS</vt:lpstr>
      <vt:lpstr>Batch operating system</vt:lpstr>
      <vt:lpstr>Time-Sharing Operating Systems </vt:lpstr>
      <vt:lpstr>Time-Sharing Operating Systems </vt:lpstr>
      <vt:lpstr>Distributed Operating System</vt:lpstr>
      <vt:lpstr>Distributed Operating System</vt:lpstr>
      <vt:lpstr>Network Operating System </vt:lpstr>
      <vt:lpstr>Network Operating System </vt:lpstr>
      <vt:lpstr>Real-Time Operating System</vt:lpstr>
      <vt:lpstr>Real-Time Operating System</vt:lpstr>
      <vt:lpstr>Modes of Operating System</vt:lpstr>
      <vt:lpstr>OS Services</vt:lpstr>
      <vt:lpstr>OS services that are helpful to the user</vt:lpstr>
      <vt:lpstr>OS services that are helpful to the user</vt:lpstr>
      <vt:lpstr>OS services that are helpful to the user</vt:lpstr>
      <vt:lpstr>OS services that are helpful to the user</vt:lpstr>
      <vt:lpstr>System Call</vt:lpstr>
      <vt:lpstr>Example of System Calls</vt:lpstr>
      <vt:lpstr>API – System Call – OS Relationship</vt:lpstr>
      <vt:lpstr>Types of System Calls</vt:lpstr>
      <vt:lpstr>Types of System Calls</vt:lpstr>
      <vt:lpstr>Types of System Calls</vt:lpstr>
      <vt:lpstr>Types of System Calls</vt:lpstr>
      <vt:lpstr>Types of System Calls</vt:lpstr>
      <vt:lpstr>Types of System Calls</vt:lpstr>
      <vt:lpstr>Examples of Windows and Unix System Calls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OPRTATING SYSTEM</dc:title>
  <dc:creator>resource</dc:creator>
  <cp:lastModifiedBy>resource</cp:lastModifiedBy>
  <cp:revision>45</cp:revision>
  <dcterms:created xsi:type="dcterms:W3CDTF">2022-05-11T04:31:25Z</dcterms:created>
  <dcterms:modified xsi:type="dcterms:W3CDTF">2022-07-06T05:41:02Z</dcterms:modified>
</cp:coreProperties>
</file>